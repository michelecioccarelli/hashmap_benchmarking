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64" r:id="rId5"/>
    <p:sldId id="257" r:id="rId6"/>
    <p:sldId id="258" r:id="rId7"/>
    <p:sldId id="269" r:id="rId8"/>
    <p:sldId id="259" r:id="rId9"/>
    <p:sldId id="270" r:id="rId10"/>
    <p:sldId id="266" r:id="rId11"/>
    <p:sldId id="262" r:id="rId12"/>
    <p:sldId id="263" r:id="rId13"/>
    <p:sldId id="261" r:id="rId14"/>
    <p:sldId id="260" r:id="rId15"/>
    <p:sldId id="265" r:id="rId16"/>
    <p:sldId id="267" r:id="rId17"/>
    <p:sldId id="268" r:id="rId18"/>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29" autoAdjust="0"/>
    <p:restoredTop sz="96327"/>
  </p:normalViewPr>
  <p:slideViewPr>
    <p:cSldViewPr snapToGrid="0" snapToObjects="1">
      <p:cViewPr>
        <p:scale>
          <a:sx n="78" d="100"/>
          <a:sy n="78" d="100"/>
        </p:scale>
        <p:origin x="40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grazia Fugini" userId="4c6a5e56-294c-438d-8697-474d05f3892b" providerId="ADAL" clId="{4273C7B2-6DDE-4D09-BABE-9682ACF451A1}"/>
    <pc:docChg chg="undo custSel addSld modSld sldOrd">
      <pc:chgData name="Mariagrazia Fugini" userId="4c6a5e56-294c-438d-8697-474d05f3892b" providerId="ADAL" clId="{4273C7B2-6DDE-4D09-BABE-9682ACF451A1}" dt="2026-02-16T08:54:03.991" v="873" actId="20577"/>
      <pc:docMkLst>
        <pc:docMk/>
      </pc:docMkLst>
      <pc:sldChg chg="modSp">
        <pc:chgData name="Mariagrazia Fugini" userId="4c6a5e56-294c-438d-8697-474d05f3892b" providerId="ADAL" clId="{4273C7B2-6DDE-4D09-BABE-9682ACF451A1}" dt="2026-02-14T09:37:25.535" v="54" actId="6549"/>
        <pc:sldMkLst>
          <pc:docMk/>
          <pc:sldMk cId="2799537253" sldId="257"/>
        </pc:sldMkLst>
        <pc:spChg chg="mod">
          <ac:chgData name="Mariagrazia Fugini" userId="4c6a5e56-294c-438d-8697-474d05f3892b" providerId="ADAL" clId="{4273C7B2-6DDE-4D09-BABE-9682ACF451A1}" dt="2026-02-14T09:37:25.535" v="54" actId="6549"/>
          <ac:spMkLst>
            <pc:docMk/>
            <pc:sldMk cId="2799537253" sldId="257"/>
            <ac:spMk id="3" creationId="{8D4816AC-5A4C-4248-8AFB-0458BAE068EE}"/>
          </ac:spMkLst>
        </pc:spChg>
      </pc:sldChg>
      <pc:sldChg chg="modSp">
        <pc:chgData name="Mariagrazia Fugini" userId="4c6a5e56-294c-438d-8697-474d05f3892b" providerId="ADAL" clId="{4273C7B2-6DDE-4D09-BABE-9682ACF451A1}" dt="2026-02-14T09:56:50.232" v="483" actId="20577"/>
        <pc:sldMkLst>
          <pc:docMk/>
          <pc:sldMk cId="3576829694" sldId="261"/>
        </pc:sldMkLst>
        <pc:spChg chg="mod">
          <ac:chgData name="Mariagrazia Fugini" userId="4c6a5e56-294c-438d-8697-474d05f3892b" providerId="ADAL" clId="{4273C7B2-6DDE-4D09-BABE-9682ACF451A1}" dt="2026-02-14T09:56:50.232" v="483" actId="20577"/>
          <ac:spMkLst>
            <pc:docMk/>
            <pc:sldMk cId="3576829694" sldId="261"/>
            <ac:spMk id="3" creationId="{273A1ED2-E342-2D4A-886A-0AE0751DDB99}"/>
          </ac:spMkLst>
        </pc:spChg>
      </pc:sldChg>
      <pc:sldChg chg="modSp">
        <pc:chgData name="Mariagrazia Fugini" userId="4c6a5e56-294c-438d-8697-474d05f3892b" providerId="ADAL" clId="{4273C7B2-6DDE-4D09-BABE-9682ACF451A1}" dt="2026-02-14T09:36:00.856" v="9" actId="20577"/>
        <pc:sldMkLst>
          <pc:docMk/>
          <pc:sldMk cId="495144397" sldId="264"/>
        </pc:sldMkLst>
        <pc:spChg chg="mod">
          <ac:chgData name="Mariagrazia Fugini" userId="4c6a5e56-294c-438d-8697-474d05f3892b" providerId="ADAL" clId="{4273C7B2-6DDE-4D09-BABE-9682ACF451A1}" dt="2026-02-14T09:36:00.856" v="9" actId="20577"/>
          <ac:spMkLst>
            <pc:docMk/>
            <pc:sldMk cId="495144397" sldId="264"/>
            <ac:spMk id="2" creationId="{B1B91BDC-E0EB-7246-B363-294C4D41E680}"/>
          </ac:spMkLst>
        </pc:spChg>
      </pc:sldChg>
      <pc:sldChg chg="modSp">
        <pc:chgData name="Mariagrazia Fugini" userId="4c6a5e56-294c-438d-8697-474d05f3892b" providerId="ADAL" clId="{4273C7B2-6DDE-4D09-BABE-9682ACF451A1}" dt="2026-02-16T08:41:27.136" v="713" actId="20577"/>
        <pc:sldMkLst>
          <pc:docMk/>
          <pc:sldMk cId="2892202101" sldId="265"/>
        </pc:sldMkLst>
        <pc:spChg chg="mod">
          <ac:chgData name="Mariagrazia Fugini" userId="4c6a5e56-294c-438d-8697-474d05f3892b" providerId="ADAL" clId="{4273C7B2-6DDE-4D09-BABE-9682ACF451A1}" dt="2026-02-16T08:41:27.136" v="713" actId="20577"/>
          <ac:spMkLst>
            <pc:docMk/>
            <pc:sldMk cId="2892202101" sldId="265"/>
            <ac:spMk id="3" creationId="{00000000-0000-0000-0000-000000000000}"/>
          </ac:spMkLst>
        </pc:spChg>
      </pc:sldChg>
      <pc:sldChg chg="ord">
        <pc:chgData name="Mariagrazia Fugini" userId="4c6a5e56-294c-438d-8697-474d05f3892b" providerId="ADAL" clId="{4273C7B2-6DDE-4D09-BABE-9682ACF451A1}" dt="2026-02-14T09:57:01.190" v="484"/>
        <pc:sldMkLst>
          <pc:docMk/>
          <pc:sldMk cId="3698061117" sldId="266"/>
        </pc:sldMkLst>
      </pc:sldChg>
      <pc:sldChg chg="modSp">
        <pc:chgData name="Mariagrazia Fugini" userId="4c6a5e56-294c-438d-8697-474d05f3892b" providerId="ADAL" clId="{4273C7B2-6DDE-4D09-BABE-9682ACF451A1}" dt="2026-02-16T08:48:41.014" v="805" actId="20577"/>
        <pc:sldMkLst>
          <pc:docMk/>
          <pc:sldMk cId="3573917460" sldId="267"/>
        </pc:sldMkLst>
        <pc:spChg chg="mod">
          <ac:chgData name="Mariagrazia Fugini" userId="4c6a5e56-294c-438d-8697-474d05f3892b" providerId="ADAL" clId="{4273C7B2-6DDE-4D09-BABE-9682ACF451A1}" dt="2026-02-16T08:48:41.014" v="805" actId="20577"/>
          <ac:spMkLst>
            <pc:docMk/>
            <pc:sldMk cId="3573917460" sldId="267"/>
            <ac:spMk id="3" creationId="{066CCDC6-A495-C06E-4118-8715E49CC3A5}"/>
          </ac:spMkLst>
        </pc:spChg>
      </pc:sldChg>
      <pc:sldChg chg="modSp">
        <pc:chgData name="Mariagrazia Fugini" userId="4c6a5e56-294c-438d-8697-474d05f3892b" providerId="ADAL" clId="{4273C7B2-6DDE-4D09-BABE-9682ACF451A1}" dt="2026-02-16T08:54:03.991" v="873" actId="20577"/>
        <pc:sldMkLst>
          <pc:docMk/>
          <pc:sldMk cId="650563269" sldId="268"/>
        </pc:sldMkLst>
        <pc:spChg chg="mod">
          <ac:chgData name="Mariagrazia Fugini" userId="4c6a5e56-294c-438d-8697-474d05f3892b" providerId="ADAL" clId="{4273C7B2-6DDE-4D09-BABE-9682ACF451A1}" dt="2026-02-16T08:54:03.991" v="873" actId="20577"/>
          <ac:spMkLst>
            <pc:docMk/>
            <pc:sldMk cId="650563269" sldId="268"/>
            <ac:spMk id="3" creationId="{D999CD0A-3313-F606-451D-7389EAC57496}"/>
          </ac:spMkLst>
        </pc:spChg>
      </pc:sldChg>
      <pc:sldChg chg="modSp add">
        <pc:chgData name="Mariagrazia Fugini" userId="4c6a5e56-294c-438d-8697-474d05f3892b" providerId="ADAL" clId="{4273C7B2-6DDE-4D09-BABE-9682ACF451A1}" dt="2026-02-14T09:52:40.575" v="360" actId="20577"/>
        <pc:sldMkLst>
          <pc:docMk/>
          <pc:sldMk cId="1439162895" sldId="269"/>
        </pc:sldMkLst>
        <pc:spChg chg="mod">
          <ac:chgData name="Mariagrazia Fugini" userId="4c6a5e56-294c-438d-8697-474d05f3892b" providerId="ADAL" clId="{4273C7B2-6DDE-4D09-BABE-9682ACF451A1}" dt="2026-02-14T09:42:35.969" v="200" actId="20577"/>
          <ac:spMkLst>
            <pc:docMk/>
            <pc:sldMk cId="1439162895" sldId="269"/>
            <ac:spMk id="2" creationId="{78153C69-0537-47EF-AD0E-EE240907FCB8}"/>
          </ac:spMkLst>
        </pc:spChg>
        <pc:spChg chg="mod">
          <ac:chgData name="Mariagrazia Fugini" userId="4c6a5e56-294c-438d-8697-474d05f3892b" providerId="ADAL" clId="{4273C7B2-6DDE-4D09-BABE-9682ACF451A1}" dt="2026-02-14T09:52:40.575" v="360" actId="20577"/>
          <ac:spMkLst>
            <pc:docMk/>
            <pc:sldMk cId="1439162895" sldId="269"/>
            <ac:spMk id="3" creationId="{BBB077F5-1446-47B9-9F28-B148AB8A5C6B}"/>
          </ac:spMkLst>
        </pc:spChg>
      </pc:sldChg>
      <pc:sldChg chg="addSp delSp modSp add">
        <pc:chgData name="Mariagrazia Fugini" userId="4c6a5e56-294c-438d-8697-474d05f3892b" providerId="ADAL" clId="{4273C7B2-6DDE-4D09-BABE-9682ACF451A1}" dt="2026-02-16T08:38:40.841" v="690" actId="13926"/>
        <pc:sldMkLst>
          <pc:docMk/>
          <pc:sldMk cId="1238266218" sldId="270"/>
        </pc:sldMkLst>
        <pc:spChg chg="mod">
          <ac:chgData name="Mariagrazia Fugini" userId="4c6a5e56-294c-438d-8697-474d05f3892b" providerId="ADAL" clId="{4273C7B2-6DDE-4D09-BABE-9682ACF451A1}" dt="2026-02-14T09:51:26.444" v="338" actId="1076"/>
          <ac:spMkLst>
            <pc:docMk/>
            <pc:sldMk cId="1238266218" sldId="270"/>
            <ac:spMk id="2" creationId="{FEE20120-19CF-473F-B58A-4DC69C546B5B}"/>
          </ac:spMkLst>
        </pc:spChg>
        <pc:spChg chg="mod">
          <ac:chgData name="Mariagrazia Fugini" userId="4c6a5e56-294c-438d-8697-474d05f3892b" providerId="ADAL" clId="{4273C7B2-6DDE-4D09-BABE-9682ACF451A1}" dt="2026-02-16T08:38:40.841" v="690" actId="13926"/>
          <ac:spMkLst>
            <pc:docMk/>
            <pc:sldMk cId="1238266218" sldId="270"/>
            <ac:spMk id="3" creationId="{461C1036-43D1-4E59-9C61-E8284D797A87}"/>
          </ac:spMkLst>
        </pc:spChg>
        <pc:spChg chg="add del mod">
          <ac:chgData name="Mariagrazia Fugini" userId="4c6a5e56-294c-438d-8697-474d05f3892b" providerId="ADAL" clId="{4273C7B2-6DDE-4D09-BABE-9682ACF451A1}" dt="2026-02-14T09:49:25.336" v="274"/>
          <ac:spMkLst>
            <pc:docMk/>
            <pc:sldMk cId="1238266218" sldId="270"/>
            <ac:spMk id="4" creationId="{79946132-68AC-4065-B93B-2A31CD123C76}"/>
          </ac:spMkLst>
        </pc:spChg>
      </pc:sldChg>
    </pc:docChg>
  </pc:docChgLst>
  <pc:docChgLst>
    <pc:chgData name="Mariagrazia Fugini" userId="4c6a5e56-294c-438d-8697-474d05f3892b" providerId="ADAL" clId="{83BA3A82-BBD1-4138-B32B-7840A604C7EF}"/>
  </pc:docChgLst>
  <pc:docChgLst>
    <pc:chgData name="Mariagrazia Fugini" userId="4c6a5e56-294c-438d-8697-474d05f3892b" providerId="ADAL" clId="{14B4DD21-1CE4-4159-8779-BC678CDE9412}"/>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1045EF0-366D-6848-AF0D-DA51FECB313C}"/>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8F0E8AB7-F5A0-C34E-BA22-0C852FFAF3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4C1F3DB2-A897-8049-A92C-4F1A1016CF63}"/>
              </a:ext>
            </a:extLst>
          </p:cNvPr>
          <p:cNvSpPr>
            <a:spLocks noGrp="1"/>
          </p:cNvSpPr>
          <p:nvPr>
            <p:ph type="dt" sz="half" idx="10"/>
          </p:nvPr>
        </p:nvSpPr>
        <p:spPr/>
        <p:txBody>
          <a:bodyPr/>
          <a:lstStyle/>
          <a:p>
            <a:fld id="{1F221A4E-59AB-9C46-B1DE-16561D3D8BE2}" type="datetimeFigureOut">
              <a:rPr lang="it-IT" smtClean="0"/>
              <a:t>16/02/2026</a:t>
            </a:fld>
            <a:endParaRPr lang="it-IT"/>
          </a:p>
        </p:txBody>
      </p:sp>
      <p:sp>
        <p:nvSpPr>
          <p:cNvPr id="5" name="Segnaposto piè di pagina 4">
            <a:extLst>
              <a:ext uri="{FF2B5EF4-FFF2-40B4-BE49-F238E27FC236}">
                <a16:creationId xmlns:a16="http://schemas.microsoft.com/office/drawing/2014/main" id="{FEFEABB3-1A13-2D47-9A49-497C00D6191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6052F9E-DD10-264E-88AD-7C378C915101}"/>
              </a:ext>
            </a:extLst>
          </p:cNvPr>
          <p:cNvSpPr>
            <a:spLocks noGrp="1"/>
          </p:cNvSpPr>
          <p:nvPr>
            <p:ph type="sldNum" sz="quarter" idx="12"/>
          </p:nvPr>
        </p:nvSpPr>
        <p:spPr/>
        <p:txBody>
          <a:bodyPr/>
          <a:lstStyle/>
          <a:p>
            <a:fld id="{E306A415-714A-344F-A816-658F0D607524}" type="slidenum">
              <a:rPr lang="it-IT" smtClean="0"/>
              <a:t>‹#›</a:t>
            </a:fld>
            <a:endParaRPr lang="it-IT"/>
          </a:p>
        </p:txBody>
      </p:sp>
    </p:spTree>
    <p:extLst>
      <p:ext uri="{BB962C8B-B14F-4D97-AF65-F5344CB8AC3E}">
        <p14:creationId xmlns:p14="http://schemas.microsoft.com/office/powerpoint/2010/main" val="1005252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FAFB224-EBE6-FE46-BF53-180DEA737C3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57F241EE-8F1D-8F40-AFF0-D9B2C989C490}"/>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F03A806-C4C9-3244-A54E-2F6AA4F551C3}"/>
              </a:ext>
            </a:extLst>
          </p:cNvPr>
          <p:cNvSpPr>
            <a:spLocks noGrp="1"/>
          </p:cNvSpPr>
          <p:nvPr>
            <p:ph type="dt" sz="half" idx="10"/>
          </p:nvPr>
        </p:nvSpPr>
        <p:spPr/>
        <p:txBody>
          <a:bodyPr/>
          <a:lstStyle/>
          <a:p>
            <a:fld id="{1F221A4E-59AB-9C46-B1DE-16561D3D8BE2}" type="datetimeFigureOut">
              <a:rPr lang="it-IT" smtClean="0"/>
              <a:t>16/02/2026</a:t>
            </a:fld>
            <a:endParaRPr lang="it-IT"/>
          </a:p>
        </p:txBody>
      </p:sp>
      <p:sp>
        <p:nvSpPr>
          <p:cNvPr id="5" name="Segnaposto piè di pagina 4">
            <a:extLst>
              <a:ext uri="{FF2B5EF4-FFF2-40B4-BE49-F238E27FC236}">
                <a16:creationId xmlns:a16="http://schemas.microsoft.com/office/drawing/2014/main" id="{FC7AB6E2-BEBB-9840-A9E4-8CFB2743D8E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A12BD4A-E802-BC4F-9797-F23777836A45}"/>
              </a:ext>
            </a:extLst>
          </p:cNvPr>
          <p:cNvSpPr>
            <a:spLocks noGrp="1"/>
          </p:cNvSpPr>
          <p:nvPr>
            <p:ph type="sldNum" sz="quarter" idx="12"/>
          </p:nvPr>
        </p:nvSpPr>
        <p:spPr/>
        <p:txBody>
          <a:bodyPr/>
          <a:lstStyle/>
          <a:p>
            <a:fld id="{E306A415-714A-344F-A816-658F0D607524}" type="slidenum">
              <a:rPr lang="it-IT" smtClean="0"/>
              <a:t>‹#›</a:t>
            </a:fld>
            <a:endParaRPr lang="it-IT"/>
          </a:p>
        </p:txBody>
      </p:sp>
    </p:spTree>
    <p:extLst>
      <p:ext uri="{BB962C8B-B14F-4D97-AF65-F5344CB8AC3E}">
        <p14:creationId xmlns:p14="http://schemas.microsoft.com/office/powerpoint/2010/main" val="102326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B044F5-1B8F-9043-A182-FDF7207B3B92}"/>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C62EA036-F3BA-BB44-8BA1-DBD8943EDD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E7D5B5DD-9E1A-CB47-9133-FF6DB6881656}"/>
              </a:ext>
            </a:extLst>
          </p:cNvPr>
          <p:cNvSpPr>
            <a:spLocks noGrp="1"/>
          </p:cNvSpPr>
          <p:nvPr>
            <p:ph type="dt" sz="half" idx="10"/>
          </p:nvPr>
        </p:nvSpPr>
        <p:spPr/>
        <p:txBody>
          <a:bodyPr/>
          <a:lstStyle/>
          <a:p>
            <a:fld id="{1F221A4E-59AB-9C46-B1DE-16561D3D8BE2}" type="datetimeFigureOut">
              <a:rPr lang="it-IT" smtClean="0"/>
              <a:t>16/02/2026</a:t>
            </a:fld>
            <a:endParaRPr lang="it-IT"/>
          </a:p>
        </p:txBody>
      </p:sp>
      <p:sp>
        <p:nvSpPr>
          <p:cNvPr id="5" name="Segnaposto piè di pagina 4">
            <a:extLst>
              <a:ext uri="{FF2B5EF4-FFF2-40B4-BE49-F238E27FC236}">
                <a16:creationId xmlns:a16="http://schemas.microsoft.com/office/drawing/2014/main" id="{6BBDCBCC-FDEF-3C4C-A117-85EDB65C205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0D9DFB4-AC00-5542-A8DF-354C2929CB85}"/>
              </a:ext>
            </a:extLst>
          </p:cNvPr>
          <p:cNvSpPr>
            <a:spLocks noGrp="1"/>
          </p:cNvSpPr>
          <p:nvPr>
            <p:ph type="sldNum" sz="quarter" idx="12"/>
          </p:nvPr>
        </p:nvSpPr>
        <p:spPr/>
        <p:txBody>
          <a:bodyPr/>
          <a:lstStyle/>
          <a:p>
            <a:fld id="{E306A415-714A-344F-A816-658F0D607524}" type="slidenum">
              <a:rPr lang="it-IT" smtClean="0"/>
              <a:t>‹#›</a:t>
            </a:fld>
            <a:endParaRPr lang="it-IT"/>
          </a:p>
        </p:txBody>
      </p:sp>
    </p:spTree>
    <p:extLst>
      <p:ext uri="{BB962C8B-B14F-4D97-AF65-F5344CB8AC3E}">
        <p14:creationId xmlns:p14="http://schemas.microsoft.com/office/powerpoint/2010/main" val="2176460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545C6ED-04BB-5649-872A-9020BB52BD5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D434997-7EDF-1F40-8A2A-4CFE899A40ED}"/>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2E5E2A3B-3A99-6143-8D4B-E731FEA0DA6D}"/>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184E22BF-B126-5742-B806-9C83AF2CDAC7}"/>
              </a:ext>
            </a:extLst>
          </p:cNvPr>
          <p:cNvSpPr>
            <a:spLocks noGrp="1"/>
          </p:cNvSpPr>
          <p:nvPr>
            <p:ph type="dt" sz="half" idx="10"/>
          </p:nvPr>
        </p:nvSpPr>
        <p:spPr/>
        <p:txBody>
          <a:bodyPr/>
          <a:lstStyle/>
          <a:p>
            <a:fld id="{1F221A4E-59AB-9C46-B1DE-16561D3D8BE2}" type="datetimeFigureOut">
              <a:rPr lang="it-IT" smtClean="0"/>
              <a:t>16/02/2026</a:t>
            </a:fld>
            <a:endParaRPr lang="it-IT"/>
          </a:p>
        </p:txBody>
      </p:sp>
      <p:sp>
        <p:nvSpPr>
          <p:cNvPr id="6" name="Segnaposto piè di pagina 5">
            <a:extLst>
              <a:ext uri="{FF2B5EF4-FFF2-40B4-BE49-F238E27FC236}">
                <a16:creationId xmlns:a16="http://schemas.microsoft.com/office/drawing/2014/main" id="{EC76E9E4-4EC7-E341-9F9E-21FCA9D7530C}"/>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C182F48-DC1F-A341-98AA-19FCE5B43E01}"/>
              </a:ext>
            </a:extLst>
          </p:cNvPr>
          <p:cNvSpPr>
            <a:spLocks noGrp="1"/>
          </p:cNvSpPr>
          <p:nvPr>
            <p:ph type="sldNum" sz="quarter" idx="12"/>
          </p:nvPr>
        </p:nvSpPr>
        <p:spPr/>
        <p:txBody>
          <a:bodyPr/>
          <a:lstStyle/>
          <a:p>
            <a:fld id="{E306A415-714A-344F-A816-658F0D607524}" type="slidenum">
              <a:rPr lang="it-IT" smtClean="0"/>
              <a:t>‹#›</a:t>
            </a:fld>
            <a:endParaRPr lang="it-IT"/>
          </a:p>
        </p:txBody>
      </p:sp>
    </p:spTree>
    <p:extLst>
      <p:ext uri="{BB962C8B-B14F-4D97-AF65-F5344CB8AC3E}">
        <p14:creationId xmlns:p14="http://schemas.microsoft.com/office/powerpoint/2010/main" val="1552649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09B67F-B446-F948-878D-72EA5073A23E}"/>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10939A85-CD7B-3A4A-B726-22846D7549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07C9187B-AFF0-6E44-88C7-BCF46BC568E0}"/>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82F616B9-14D8-824E-9470-A3F3452188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3E8AA757-BEB1-914A-BF9F-1D5C0BBFC0F2}"/>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8CCF6D54-A303-EC49-AB86-AC350C94A170}"/>
              </a:ext>
            </a:extLst>
          </p:cNvPr>
          <p:cNvSpPr>
            <a:spLocks noGrp="1"/>
          </p:cNvSpPr>
          <p:nvPr>
            <p:ph type="dt" sz="half" idx="10"/>
          </p:nvPr>
        </p:nvSpPr>
        <p:spPr/>
        <p:txBody>
          <a:bodyPr/>
          <a:lstStyle/>
          <a:p>
            <a:fld id="{1F221A4E-59AB-9C46-B1DE-16561D3D8BE2}" type="datetimeFigureOut">
              <a:rPr lang="it-IT" smtClean="0"/>
              <a:t>16/02/2026</a:t>
            </a:fld>
            <a:endParaRPr lang="it-IT"/>
          </a:p>
        </p:txBody>
      </p:sp>
      <p:sp>
        <p:nvSpPr>
          <p:cNvPr id="8" name="Segnaposto piè di pagina 7">
            <a:extLst>
              <a:ext uri="{FF2B5EF4-FFF2-40B4-BE49-F238E27FC236}">
                <a16:creationId xmlns:a16="http://schemas.microsoft.com/office/drawing/2014/main" id="{B31C9321-D404-7343-A9E2-91F2A096F835}"/>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C8B2EF21-9420-484A-8D8D-721CB3919B80}"/>
              </a:ext>
            </a:extLst>
          </p:cNvPr>
          <p:cNvSpPr>
            <a:spLocks noGrp="1"/>
          </p:cNvSpPr>
          <p:nvPr>
            <p:ph type="sldNum" sz="quarter" idx="12"/>
          </p:nvPr>
        </p:nvSpPr>
        <p:spPr/>
        <p:txBody>
          <a:bodyPr/>
          <a:lstStyle/>
          <a:p>
            <a:fld id="{E306A415-714A-344F-A816-658F0D607524}" type="slidenum">
              <a:rPr lang="it-IT" smtClean="0"/>
              <a:t>‹#›</a:t>
            </a:fld>
            <a:endParaRPr lang="it-IT"/>
          </a:p>
        </p:txBody>
      </p:sp>
    </p:spTree>
    <p:extLst>
      <p:ext uri="{BB962C8B-B14F-4D97-AF65-F5344CB8AC3E}">
        <p14:creationId xmlns:p14="http://schemas.microsoft.com/office/powerpoint/2010/main" val="593670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FABFB5B-8C27-AB43-A78A-1F44EBE5A3F8}"/>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FBA28113-4E5F-4548-B1B6-05C0F397E08E}"/>
              </a:ext>
            </a:extLst>
          </p:cNvPr>
          <p:cNvSpPr>
            <a:spLocks noGrp="1"/>
          </p:cNvSpPr>
          <p:nvPr>
            <p:ph type="dt" sz="half" idx="10"/>
          </p:nvPr>
        </p:nvSpPr>
        <p:spPr/>
        <p:txBody>
          <a:bodyPr/>
          <a:lstStyle/>
          <a:p>
            <a:fld id="{1F221A4E-59AB-9C46-B1DE-16561D3D8BE2}" type="datetimeFigureOut">
              <a:rPr lang="it-IT" smtClean="0"/>
              <a:t>16/02/2026</a:t>
            </a:fld>
            <a:endParaRPr lang="it-IT"/>
          </a:p>
        </p:txBody>
      </p:sp>
      <p:sp>
        <p:nvSpPr>
          <p:cNvPr id="4" name="Segnaposto piè di pagina 3">
            <a:extLst>
              <a:ext uri="{FF2B5EF4-FFF2-40B4-BE49-F238E27FC236}">
                <a16:creationId xmlns:a16="http://schemas.microsoft.com/office/drawing/2014/main" id="{EFB11869-BBA7-6F4E-8AE6-93FE88E30F1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E154E23B-806E-174F-B342-C39896BA73DE}"/>
              </a:ext>
            </a:extLst>
          </p:cNvPr>
          <p:cNvSpPr>
            <a:spLocks noGrp="1"/>
          </p:cNvSpPr>
          <p:nvPr>
            <p:ph type="sldNum" sz="quarter" idx="12"/>
          </p:nvPr>
        </p:nvSpPr>
        <p:spPr/>
        <p:txBody>
          <a:bodyPr/>
          <a:lstStyle/>
          <a:p>
            <a:fld id="{E306A415-714A-344F-A816-658F0D607524}" type="slidenum">
              <a:rPr lang="it-IT" smtClean="0"/>
              <a:t>‹#›</a:t>
            </a:fld>
            <a:endParaRPr lang="it-IT"/>
          </a:p>
        </p:txBody>
      </p:sp>
    </p:spTree>
    <p:extLst>
      <p:ext uri="{BB962C8B-B14F-4D97-AF65-F5344CB8AC3E}">
        <p14:creationId xmlns:p14="http://schemas.microsoft.com/office/powerpoint/2010/main" val="1605435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746A7DF6-C97E-224D-ABDB-665EE4C1D546}"/>
              </a:ext>
            </a:extLst>
          </p:cNvPr>
          <p:cNvSpPr>
            <a:spLocks noGrp="1"/>
          </p:cNvSpPr>
          <p:nvPr>
            <p:ph type="dt" sz="half" idx="10"/>
          </p:nvPr>
        </p:nvSpPr>
        <p:spPr/>
        <p:txBody>
          <a:bodyPr/>
          <a:lstStyle/>
          <a:p>
            <a:fld id="{1F221A4E-59AB-9C46-B1DE-16561D3D8BE2}" type="datetimeFigureOut">
              <a:rPr lang="it-IT" smtClean="0"/>
              <a:t>16/02/2026</a:t>
            </a:fld>
            <a:endParaRPr lang="it-IT"/>
          </a:p>
        </p:txBody>
      </p:sp>
      <p:sp>
        <p:nvSpPr>
          <p:cNvPr id="3" name="Segnaposto piè di pagina 2">
            <a:extLst>
              <a:ext uri="{FF2B5EF4-FFF2-40B4-BE49-F238E27FC236}">
                <a16:creationId xmlns:a16="http://schemas.microsoft.com/office/drawing/2014/main" id="{9F07514B-B3C3-CC4F-A8D4-C7736CE5A94A}"/>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844CFC54-08DB-A04C-91A7-58F2CED5C3A8}"/>
              </a:ext>
            </a:extLst>
          </p:cNvPr>
          <p:cNvSpPr>
            <a:spLocks noGrp="1"/>
          </p:cNvSpPr>
          <p:nvPr>
            <p:ph type="sldNum" sz="quarter" idx="12"/>
          </p:nvPr>
        </p:nvSpPr>
        <p:spPr/>
        <p:txBody>
          <a:bodyPr/>
          <a:lstStyle/>
          <a:p>
            <a:fld id="{E306A415-714A-344F-A816-658F0D607524}" type="slidenum">
              <a:rPr lang="it-IT" smtClean="0"/>
              <a:t>‹#›</a:t>
            </a:fld>
            <a:endParaRPr lang="it-IT"/>
          </a:p>
        </p:txBody>
      </p:sp>
    </p:spTree>
    <p:extLst>
      <p:ext uri="{BB962C8B-B14F-4D97-AF65-F5344CB8AC3E}">
        <p14:creationId xmlns:p14="http://schemas.microsoft.com/office/powerpoint/2010/main" val="2069252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3E4F35-84DC-9D46-AD10-69A6BBF060B3}"/>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221F31A7-06E8-D94B-BD2C-EBE5D316F7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6A596B0A-D631-3D41-B8AD-F98D3699AB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DC4FACCA-6794-694F-BC23-8EB0293F45E4}"/>
              </a:ext>
            </a:extLst>
          </p:cNvPr>
          <p:cNvSpPr>
            <a:spLocks noGrp="1"/>
          </p:cNvSpPr>
          <p:nvPr>
            <p:ph type="dt" sz="half" idx="10"/>
          </p:nvPr>
        </p:nvSpPr>
        <p:spPr/>
        <p:txBody>
          <a:bodyPr/>
          <a:lstStyle/>
          <a:p>
            <a:fld id="{1F221A4E-59AB-9C46-B1DE-16561D3D8BE2}" type="datetimeFigureOut">
              <a:rPr lang="it-IT" smtClean="0"/>
              <a:t>16/02/2026</a:t>
            </a:fld>
            <a:endParaRPr lang="it-IT"/>
          </a:p>
        </p:txBody>
      </p:sp>
      <p:sp>
        <p:nvSpPr>
          <p:cNvPr id="6" name="Segnaposto piè di pagina 5">
            <a:extLst>
              <a:ext uri="{FF2B5EF4-FFF2-40B4-BE49-F238E27FC236}">
                <a16:creationId xmlns:a16="http://schemas.microsoft.com/office/drawing/2014/main" id="{B0591F70-4809-E64F-AA6A-0AB916A6B082}"/>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14ADB5C2-3816-C84A-BC50-D37723CB5FB5}"/>
              </a:ext>
            </a:extLst>
          </p:cNvPr>
          <p:cNvSpPr>
            <a:spLocks noGrp="1"/>
          </p:cNvSpPr>
          <p:nvPr>
            <p:ph type="sldNum" sz="quarter" idx="12"/>
          </p:nvPr>
        </p:nvSpPr>
        <p:spPr/>
        <p:txBody>
          <a:bodyPr/>
          <a:lstStyle/>
          <a:p>
            <a:fld id="{E306A415-714A-344F-A816-658F0D607524}" type="slidenum">
              <a:rPr lang="it-IT" smtClean="0"/>
              <a:t>‹#›</a:t>
            </a:fld>
            <a:endParaRPr lang="it-IT"/>
          </a:p>
        </p:txBody>
      </p:sp>
    </p:spTree>
    <p:extLst>
      <p:ext uri="{BB962C8B-B14F-4D97-AF65-F5344CB8AC3E}">
        <p14:creationId xmlns:p14="http://schemas.microsoft.com/office/powerpoint/2010/main" val="3437674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32F7C8E-1992-EE41-B8E5-1440404CEBE4}"/>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09DDFF63-4347-2A4C-A52B-942359CCFF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71B64001-EEE6-7B42-9FDC-4833415FB9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F93A0C4-F1DE-2043-AACC-4BF41245E8E0}"/>
              </a:ext>
            </a:extLst>
          </p:cNvPr>
          <p:cNvSpPr>
            <a:spLocks noGrp="1"/>
          </p:cNvSpPr>
          <p:nvPr>
            <p:ph type="dt" sz="half" idx="10"/>
          </p:nvPr>
        </p:nvSpPr>
        <p:spPr/>
        <p:txBody>
          <a:bodyPr/>
          <a:lstStyle/>
          <a:p>
            <a:fld id="{1F221A4E-59AB-9C46-B1DE-16561D3D8BE2}" type="datetimeFigureOut">
              <a:rPr lang="it-IT" smtClean="0"/>
              <a:t>16/02/2026</a:t>
            </a:fld>
            <a:endParaRPr lang="it-IT"/>
          </a:p>
        </p:txBody>
      </p:sp>
      <p:sp>
        <p:nvSpPr>
          <p:cNvPr id="6" name="Segnaposto piè di pagina 5">
            <a:extLst>
              <a:ext uri="{FF2B5EF4-FFF2-40B4-BE49-F238E27FC236}">
                <a16:creationId xmlns:a16="http://schemas.microsoft.com/office/drawing/2014/main" id="{36966E49-4F4C-0B49-B3A4-6F2184FCDC8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F8A6820F-0412-0D40-83A8-3DA7FA99B257}"/>
              </a:ext>
            </a:extLst>
          </p:cNvPr>
          <p:cNvSpPr>
            <a:spLocks noGrp="1"/>
          </p:cNvSpPr>
          <p:nvPr>
            <p:ph type="sldNum" sz="quarter" idx="12"/>
          </p:nvPr>
        </p:nvSpPr>
        <p:spPr/>
        <p:txBody>
          <a:bodyPr/>
          <a:lstStyle/>
          <a:p>
            <a:fld id="{E306A415-714A-344F-A816-658F0D607524}" type="slidenum">
              <a:rPr lang="it-IT" smtClean="0"/>
              <a:t>‹#›</a:t>
            </a:fld>
            <a:endParaRPr lang="it-IT"/>
          </a:p>
        </p:txBody>
      </p:sp>
    </p:spTree>
    <p:extLst>
      <p:ext uri="{BB962C8B-B14F-4D97-AF65-F5344CB8AC3E}">
        <p14:creationId xmlns:p14="http://schemas.microsoft.com/office/powerpoint/2010/main" val="4279461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C3299C5-DB1E-C446-AABB-C7F8446A6455}"/>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3C501D80-428F-A742-A49F-DB2FB3FEE815}"/>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B77EF673-36DB-4243-9CC4-E4B1F9F12D42}"/>
              </a:ext>
            </a:extLst>
          </p:cNvPr>
          <p:cNvSpPr>
            <a:spLocks noGrp="1"/>
          </p:cNvSpPr>
          <p:nvPr>
            <p:ph type="dt" sz="half" idx="10"/>
          </p:nvPr>
        </p:nvSpPr>
        <p:spPr/>
        <p:txBody>
          <a:bodyPr/>
          <a:lstStyle/>
          <a:p>
            <a:fld id="{1F221A4E-59AB-9C46-B1DE-16561D3D8BE2}" type="datetimeFigureOut">
              <a:rPr lang="it-IT" smtClean="0"/>
              <a:t>16/02/2026</a:t>
            </a:fld>
            <a:endParaRPr lang="it-IT"/>
          </a:p>
        </p:txBody>
      </p:sp>
      <p:sp>
        <p:nvSpPr>
          <p:cNvPr id="5" name="Segnaposto piè di pagina 4">
            <a:extLst>
              <a:ext uri="{FF2B5EF4-FFF2-40B4-BE49-F238E27FC236}">
                <a16:creationId xmlns:a16="http://schemas.microsoft.com/office/drawing/2014/main" id="{470C0BCA-73B5-F947-8EEA-3141C985C1FF}"/>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F471BAA-2975-F847-9FAA-FA9478350A06}"/>
              </a:ext>
            </a:extLst>
          </p:cNvPr>
          <p:cNvSpPr>
            <a:spLocks noGrp="1"/>
          </p:cNvSpPr>
          <p:nvPr>
            <p:ph type="sldNum" sz="quarter" idx="12"/>
          </p:nvPr>
        </p:nvSpPr>
        <p:spPr/>
        <p:txBody>
          <a:bodyPr/>
          <a:lstStyle/>
          <a:p>
            <a:fld id="{E306A415-714A-344F-A816-658F0D607524}" type="slidenum">
              <a:rPr lang="it-IT" smtClean="0"/>
              <a:t>‹#›</a:t>
            </a:fld>
            <a:endParaRPr lang="it-IT"/>
          </a:p>
        </p:txBody>
      </p:sp>
    </p:spTree>
    <p:extLst>
      <p:ext uri="{BB962C8B-B14F-4D97-AF65-F5344CB8AC3E}">
        <p14:creationId xmlns:p14="http://schemas.microsoft.com/office/powerpoint/2010/main" val="2007749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C5446E40-043A-3C42-8A08-4C448596BBD8}"/>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76B3E797-48A6-934E-B79F-817A0F4D33B3}"/>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9830DC8-5F76-8A46-BF26-5347B515ABA1}"/>
              </a:ext>
            </a:extLst>
          </p:cNvPr>
          <p:cNvSpPr>
            <a:spLocks noGrp="1"/>
          </p:cNvSpPr>
          <p:nvPr>
            <p:ph type="dt" sz="half" idx="10"/>
          </p:nvPr>
        </p:nvSpPr>
        <p:spPr/>
        <p:txBody>
          <a:bodyPr/>
          <a:lstStyle/>
          <a:p>
            <a:fld id="{1F221A4E-59AB-9C46-B1DE-16561D3D8BE2}" type="datetimeFigureOut">
              <a:rPr lang="it-IT" smtClean="0"/>
              <a:t>16/02/2026</a:t>
            </a:fld>
            <a:endParaRPr lang="it-IT"/>
          </a:p>
        </p:txBody>
      </p:sp>
      <p:sp>
        <p:nvSpPr>
          <p:cNvPr id="5" name="Segnaposto piè di pagina 4">
            <a:extLst>
              <a:ext uri="{FF2B5EF4-FFF2-40B4-BE49-F238E27FC236}">
                <a16:creationId xmlns:a16="http://schemas.microsoft.com/office/drawing/2014/main" id="{7B11EA56-199B-5748-A42F-72BF3FDC895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78EC5E6-22B4-FB44-932A-B30A3971C136}"/>
              </a:ext>
            </a:extLst>
          </p:cNvPr>
          <p:cNvSpPr>
            <a:spLocks noGrp="1"/>
          </p:cNvSpPr>
          <p:nvPr>
            <p:ph type="sldNum" sz="quarter" idx="12"/>
          </p:nvPr>
        </p:nvSpPr>
        <p:spPr/>
        <p:txBody>
          <a:bodyPr/>
          <a:lstStyle/>
          <a:p>
            <a:fld id="{E306A415-714A-344F-A816-658F0D607524}" type="slidenum">
              <a:rPr lang="it-IT" smtClean="0"/>
              <a:t>‹#›</a:t>
            </a:fld>
            <a:endParaRPr lang="it-IT"/>
          </a:p>
        </p:txBody>
      </p:sp>
    </p:spTree>
    <p:extLst>
      <p:ext uri="{BB962C8B-B14F-4D97-AF65-F5344CB8AC3E}">
        <p14:creationId xmlns:p14="http://schemas.microsoft.com/office/powerpoint/2010/main" val="3120511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0FE1E537-3A3E-E340-8CFC-22303E91A6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185F93C4-49D3-3747-9D53-CF70AB86C5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49E7961-7DE0-5240-BA1F-89AAC17CF6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221A4E-59AB-9C46-B1DE-16561D3D8BE2}" type="datetimeFigureOut">
              <a:rPr lang="it-IT" smtClean="0"/>
              <a:t>16/02/2026</a:t>
            </a:fld>
            <a:endParaRPr lang="it-IT"/>
          </a:p>
        </p:txBody>
      </p:sp>
      <p:sp>
        <p:nvSpPr>
          <p:cNvPr id="5" name="Segnaposto piè di pagina 4">
            <a:extLst>
              <a:ext uri="{FF2B5EF4-FFF2-40B4-BE49-F238E27FC236}">
                <a16:creationId xmlns:a16="http://schemas.microsoft.com/office/drawing/2014/main" id="{A82D48F0-117E-644D-815E-9592811091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5ABF3560-2B78-744A-A0B4-9F413F28B7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06A415-714A-344F-A816-658F0D607524}" type="slidenum">
              <a:rPr lang="it-IT" smtClean="0"/>
              <a:t>‹#›</a:t>
            </a:fld>
            <a:endParaRPr lang="it-IT"/>
          </a:p>
        </p:txBody>
      </p:sp>
    </p:spTree>
    <p:extLst>
      <p:ext uri="{BB962C8B-B14F-4D97-AF65-F5344CB8AC3E}">
        <p14:creationId xmlns:p14="http://schemas.microsoft.com/office/powerpoint/2010/main" val="260403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ariagrazia.fugini@polimi.it"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pii.deib.polimi.i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file:///C:\Users\Fugini\Desktop\%20https:\webeep.polimi.it\mod\assign\view.php%3fid=237834&amp;action=grad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mailto:gianluca.palermo@polimi.it"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pii.deib.polimi.it/geoinformatics-projec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D0DD9578-0C22-9548-8387-FB673E087892}"/>
              </a:ext>
            </a:extLst>
          </p:cNvPr>
          <p:cNvSpPr>
            <a:spLocks noGrp="1"/>
          </p:cNvSpPr>
          <p:nvPr>
            <p:ph type="subTitle" idx="1"/>
          </p:nvPr>
        </p:nvSpPr>
        <p:spPr/>
        <p:txBody>
          <a:bodyPr>
            <a:normAutofit/>
          </a:bodyPr>
          <a:lstStyle/>
          <a:p>
            <a:r>
              <a:rPr lang="it-IT" dirty="0"/>
              <a:t>Prof. Mariagrazia Fugini</a:t>
            </a:r>
          </a:p>
          <a:p>
            <a:r>
              <a:rPr lang="it-IT" dirty="0">
                <a:hlinkClick r:id="rId2"/>
              </a:rPr>
              <a:t>mariagrazia.fugini@polimi.it</a:t>
            </a:r>
            <a:br>
              <a:rPr lang="it-IT" dirty="0"/>
            </a:br>
            <a:endParaRPr lang="it-IT" dirty="0"/>
          </a:p>
          <a:p>
            <a:endParaRPr lang="it-IT" dirty="0"/>
          </a:p>
        </p:txBody>
      </p:sp>
      <p:sp>
        <p:nvSpPr>
          <p:cNvPr id="2" name="Titolo 1">
            <a:extLst>
              <a:ext uri="{FF2B5EF4-FFF2-40B4-BE49-F238E27FC236}">
                <a16:creationId xmlns:a16="http://schemas.microsoft.com/office/drawing/2014/main" id="{B1B91BDC-E0EB-7246-B363-294C4D41E680}"/>
              </a:ext>
            </a:extLst>
          </p:cNvPr>
          <p:cNvSpPr>
            <a:spLocks noGrp="1"/>
          </p:cNvSpPr>
          <p:nvPr>
            <p:ph type="ctrTitle"/>
          </p:nvPr>
        </p:nvSpPr>
        <p:spPr/>
        <p:txBody>
          <a:bodyPr>
            <a:normAutofit fontScale="90000"/>
          </a:bodyPr>
          <a:lstStyle/>
          <a:p>
            <a:r>
              <a:rPr lang="it-IT" b="1" dirty="0">
                <a:solidFill>
                  <a:srgbClr val="C00000"/>
                </a:solidFill>
              </a:rPr>
              <a:t>Progetto di Ingegneria Informatica (PII)</a:t>
            </a:r>
            <a:br>
              <a:rPr lang="it-IT" dirty="0"/>
            </a:br>
            <a:r>
              <a:rPr lang="it-IT" sz="4400" i="1" dirty="0"/>
              <a:t>GeoInformatics Project (GIP)</a:t>
            </a:r>
            <a:br>
              <a:rPr lang="it-IT" sz="4400" i="1" dirty="0"/>
            </a:br>
            <a:br>
              <a:rPr lang="it-IT" sz="4400" i="1" dirty="0"/>
            </a:br>
            <a:r>
              <a:rPr lang="it-IT" sz="4400" i="1" dirty="0"/>
              <a:t>2025-26</a:t>
            </a:r>
            <a:endParaRPr lang="it-IT" i="1" dirty="0"/>
          </a:p>
        </p:txBody>
      </p:sp>
    </p:spTree>
    <p:extLst>
      <p:ext uri="{BB962C8B-B14F-4D97-AF65-F5344CB8AC3E}">
        <p14:creationId xmlns:p14="http://schemas.microsoft.com/office/powerpoint/2010/main" val="495144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45E062-37E9-1E4F-AF43-1568E769E0BF}"/>
              </a:ext>
            </a:extLst>
          </p:cNvPr>
          <p:cNvSpPr>
            <a:spLocks noGrp="1"/>
          </p:cNvSpPr>
          <p:nvPr>
            <p:ph type="title"/>
          </p:nvPr>
        </p:nvSpPr>
        <p:spPr>
          <a:xfrm>
            <a:off x="47401" y="102366"/>
            <a:ext cx="10515600" cy="1325563"/>
          </a:xfrm>
        </p:spPr>
        <p:txBody>
          <a:bodyPr/>
          <a:lstStyle/>
          <a:p>
            <a:r>
              <a:rPr lang="it-IT" dirty="0"/>
              <a:t>PII/GIP - Website</a:t>
            </a:r>
          </a:p>
        </p:txBody>
      </p:sp>
      <p:sp>
        <p:nvSpPr>
          <p:cNvPr id="3" name="Segnaposto contenuto 2">
            <a:extLst>
              <a:ext uri="{FF2B5EF4-FFF2-40B4-BE49-F238E27FC236}">
                <a16:creationId xmlns:a16="http://schemas.microsoft.com/office/drawing/2014/main" id="{8D4816AC-5A4C-4248-8AFB-0458BAE068EE}"/>
              </a:ext>
            </a:extLst>
          </p:cNvPr>
          <p:cNvSpPr>
            <a:spLocks noGrp="1"/>
          </p:cNvSpPr>
          <p:nvPr>
            <p:ph idx="1"/>
          </p:nvPr>
        </p:nvSpPr>
        <p:spPr>
          <a:xfrm>
            <a:off x="1002890" y="1212296"/>
            <a:ext cx="8809703" cy="3755778"/>
          </a:xfrm>
        </p:spPr>
        <p:txBody>
          <a:bodyPr>
            <a:normAutofit/>
          </a:bodyPr>
          <a:lstStyle/>
          <a:p>
            <a:endParaRPr lang="it-IT" dirty="0"/>
          </a:p>
          <a:p>
            <a:endParaRPr lang="it-IT" dirty="0"/>
          </a:p>
          <a:p>
            <a:r>
              <a:rPr lang="it-IT" u="sng" dirty="0">
                <a:hlinkClick r:id="rId2"/>
              </a:rPr>
              <a:t>https://pii.deib.polimi.it/</a:t>
            </a:r>
            <a:endParaRPr lang="it-IT" u="sng" dirty="0"/>
          </a:p>
          <a:p>
            <a:r>
              <a:rPr lang="it-IT" dirty="0"/>
              <a:t>How to: Procedures</a:t>
            </a:r>
          </a:p>
          <a:p>
            <a:r>
              <a:rPr lang="it-IT" dirty="0"/>
              <a:t>List of projects    how to select-enroll</a:t>
            </a:r>
          </a:p>
          <a:p>
            <a:endParaRPr lang="it-IT" u="sng" dirty="0"/>
          </a:p>
          <a:p>
            <a:r>
              <a:rPr lang="it-IT" dirty="0"/>
              <a:t>WeBeep</a:t>
            </a:r>
            <a:endParaRPr lang="en-US" dirty="0"/>
          </a:p>
        </p:txBody>
      </p:sp>
    </p:spTree>
    <p:extLst>
      <p:ext uri="{BB962C8B-B14F-4D97-AF65-F5344CB8AC3E}">
        <p14:creationId xmlns:p14="http://schemas.microsoft.com/office/powerpoint/2010/main" val="2799537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45E062-37E9-1E4F-AF43-1568E769E0BF}"/>
              </a:ext>
            </a:extLst>
          </p:cNvPr>
          <p:cNvSpPr>
            <a:spLocks noGrp="1"/>
          </p:cNvSpPr>
          <p:nvPr>
            <p:ph type="title"/>
          </p:nvPr>
        </p:nvSpPr>
        <p:spPr/>
        <p:txBody>
          <a:bodyPr/>
          <a:lstStyle/>
          <a:p>
            <a:r>
              <a:rPr lang="it-IT" dirty="0"/>
              <a:t>PII  </a:t>
            </a:r>
            <a:r>
              <a:rPr lang="it-IT" dirty="0">
                <a:solidFill>
                  <a:srgbClr val="FF0000"/>
                </a:solidFill>
              </a:rPr>
              <a:t>GEO </a:t>
            </a:r>
            <a:r>
              <a:rPr lang="it-IT" dirty="0" err="1">
                <a:solidFill>
                  <a:srgbClr val="FF0000"/>
                </a:solidFill>
              </a:rPr>
              <a:t>Informatics</a:t>
            </a:r>
            <a:r>
              <a:rPr lang="it-IT" dirty="0">
                <a:solidFill>
                  <a:srgbClr val="FF0000"/>
                </a:solidFill>
              </a:rPr>
              <a:t> Project   </a:t>
            </a:r>
            <a:r>
              <a:rPr lang="it-IT" dirty="0"/>
              <a:t>5 crediti – Scelta del Progetto  </a:t>
            </a:r>
            <a:r>
              <a:rPr lang="it-IT" dirty="0" err="1"/>
              <a:t>Selection</a:t>
            </a:r>
            <a:r>
              <a:rPr lang="it-IT" dirty="0"/>
              <a:t> of a Project</a:t>
            </a:r>
          </a:p>
        </p:txBody>
      </p:sp>
      <p:sp>
        <p:nvSpPr>
          <p:cNvPr id="3" name="Segnaposto contenuto 2">
            <a:extLst>
              <a:ext uri="{FF2B5EF4-FFF2-40B4-BE49-F238E27FC236}">
                <a16:creationId xmlns:a16="http://schemas.microsoft.com/office/drawing/2014/main" id="{8D4816AC-5A4C-4248-8AFB-0458BAE068EE}"/>
              </a:ext>
            </a:extLst>
          </p:cNvPr>
          <p:cNvSpPr>
            <a:spLocks noGrp="1"/>
          </p:cNvSpPr>
          <p:nvPr>
            <p:ph idx="1"/>
          </p:nvPr>
        </p:nvSpPr>
        <p:spPr>
          <a:xfrm>
            <a:off x="838200" y="1825624"/>
            <a:ext cx="10515600" cy="4667251"/>
          </a:xfrm>
        </p:spPr>
        <p:txBody>
          <a:bodyPr>
            <a:normAutofit fontScale="85000" lnSpcReduction="20000"/>
          </a:bodyPr>
          <a:lstStyle/>
          <a:p>
            <a:r>
              <a:rPr lang="it-IT" dirty="0"/>
              <a:t>Lo </a:t>
            </a:r>
            <a:r>
              <a:rPr lang="it-IT" dirty="0">
                <a:solidFill>
                  <a:srgbClr val="FF0000"/>
                </a:solidFill>
              </a:rPr>
              <a:t>studente in autonomia </a:t>
            </a:r>
            <a:r>
              <a:rPr lang="it-IT" dirty="0"/>
              <a:t>seleziona uno dei progetti dalla lista o chiede ad un </a:t>
            </a:r>
            <a:r>
              <a:rPr lang="it-IT" dirty="0">
                <a:solidFill>
                  <a:srgbClr val="FF0000"/>
                </a:solidFill>
              </a:rPr>
              <a:t>docente di area (GEO) </a:t>
            </a:r>
            <a:r>
              <a:rPr lang="it-IT" u="sng" dirty="0"/>
              <a:t>un possibile progetto within an area among the list of </a:t>
            </a:r>
            <a:r>
              <a:rPr lang="it-IT" u="sng" dirty="0" err="1"/>
              <a:t>areas</a:t>
            </a:r>
            <a:endParaRPr lang="it-IT" u="sng" dirty="0"/>
          </a:p>
          <a:p>
            <a:endParaRPr lang="it-IT" u="sng" dirty="0"/>
          </a:p>
          <a:p>
            <a:r>
              <a:rPr lang="it-IT" dirty="0"/>
              <a:t>Lo studente contatta il responsabile del progetto chiedendo la disponibilità del progetto </a:t>
            </a:r>
          </a:p>
          <a:p>
            <a:pPr lvl="1"/>
            <a:r>
              <a:rPr lang="it-IT" dirty="0"/>
              <a:t>Il </a:t>
            </a:r>
            <a:r>
              <a:rPr lang="it-IT" dirty="0">
                <a:solidFill>
                  <a:srgbClr val="FF0000"/>
                </a:solidFill>
              </a:rPr>
              <a:t>docente responsabile </a:t>
            </a:r>
            <a:r>
              <a:rPr lang="it-IT" dirty="0">
                <a:solidFill>
                  <a:srgbClr val="FF0000"/>
                </a:solidFill>
                <a:highlight>
                  <a:srgbClr val="FFFF00"/>
                </a:highlight>
              </a:rPr>
              <a:t>CAMPI</a:t>
            </a:r>
            <a:r>
              <a:rPr lang="it-IT" dirty="0">
                <a:solidFill>
                  <a:srgbClr val="FF0000"/>
                </a:solidFill>
              </a:rPr>
              <a:t>  </a:t>
            </a:r>
            <a:r>
              <a:rPr lang="it-IT" dirty="0"/>
              <a:t>del progetto, e i collaboratori eventualmente indicati, hanno la responsabilità di </a:t>
            </a:r>
            <a:r>
              <a:rPr lang="it-IT" u="sng" dirty="0"/>
              <a:t>pubblicare il progetto </a:t>
            </a:r>
            <a:r>
              <a:rPr lang="it-IT" dirty="0"/>
              <a:t>e poi seguire lo svolgimento e la </a:t>
            </a:r>
            <a:r>
              <a:rPr lang="it-IT" dirty="0">
                <a:solidFill>
                  <a:srgbClr val="FF0000"/>
                </a:solidFill>
              </a:rPr>
              <a:t>consegna con FIRST EVALUATION </a:t>
            </a:r>
            <a:r>
              <a:rPr lang="it-IT" i="1" dirty="0">
                <a:solidFill>
                  <a:srgbClr val="FF0000"/>
                </a:solidFill>
              </a:rPr>
              <a:t>valutazione </a:t>
            </a:r>
            <a:r>
              <a:rPr lang="it-IT" dirty="0">
                <a:solidFill>
                  <a:srgbClr val="FF0000"/>
                </a:solidFill>
              </a:rPr>
              <a:t>del progetto</a:t>
            </a:r>
          </a:p>
          <a:p>
            <a:r>
              <a:rPr lang="it-IT" dirty="0"/>
              <a:t>Una volta accordatosi con il responsabile del progetto, </a:t>
            </a:r>
            <a:r>
              <a:rPr lang="it-IT" dirty="0">
                <a:solidFill>
                  <a:srgbClr val="FF0000"/>
                </a:solidFill>
              </a:rPr>
              <a:t>lo studente </a:t>
            </a:r>
            <a:r>
              <a:rPr lang="it-IT" dirty="0"/>
              <a:t>notifica </a:t>
            </a:r>
            <a:r>
              <a:rPr lang="it-IT" i="1" dirty="0">
                <a:solidFill>
                  <a:srgbClr val="FF0000"/>
                </a:solidFill>
              </a:rPr>
              <a:t>via mail </a:t>
            </a:r>
            <a:r>
              <a:rPr lang="it-IT" dirty="0"/>
              <a:t>al responsabile del corso (FUGINI) le informazioni base del progetto (titolo, responsabile, composizione </a:t>
            </a:r>
            <a:r>
              <a:rPr lang="it-IT" dirty="0">
                <a:solidFill>
                  <a:srgbClr val="FF0000"/>
                </a:solidFill>
                <a:highlight>
                  <a:srgbClr val="FFFF00"/>
                </a:highlight>
              </a:rPr>
              <a:t>gruppo,</a:t>
            </a:r>
            <a:r>
              <a:rPr lang="it-IT" dirty="0"/>
              <a:t> etc…) e un breve abstract che lo descrive   </a:t>
            </a:r>
            <a:r>
              <a:rPr lang="it-IT" dirty="0">
                <a:solidFill>
                  <a:srgbClr val="FF0000"/>
                </a:solidFill>
              </a:rPr>
              <a:t>NO TIME CONSTRAINTS </a:t>
            </a:r>
          </a:p>
          <a:p>
            <a:r>
              <a:rPr lang="en-US" dirty="0" err="1"/>
              <a:t>L’attività</a:t>
            </a:r>
            <a:r>
              <a:rPr lang="en-US" dirty="0"/>
              <a:t> del Progetto è </a:t>
            </a:r>
            <a:r>
              <a:rPr lang="en-US" dirty="0" err="1"/>
              <a:t>pensata</a:t>
            </a:r>
            <a:r>
              <a:rPr lang="en-US" dirty="0"/>
              <a:t> per </a:t>
            </a:r>
            <a:r>
              <a:rPr lang="en-US" dirty="0" err="1"/>
              <a:t>essere</a:t>
            </a:r>
            <a:r>
              <a:rPr lang="en-US" dirty="0"/>
              <a:t> </a:t>
            </a:r>
            <a:r>
              <a:rPr lang="en-US" dirty="0" err="1"/>
              <a:t>congruente</a:t>
            </a:r>
            <a:r>
              <a:rPr lang="en-US" dirty="0"/>
              <a:t> con un </a:t>
            </a:r>
            <a:r>
              <a:rPr lang="en-US" i="1" dirty="0" err="1"/>
              <a:t>corso</a:t>
            </a:r>
            <a:r>
              <a:rPr lang="en-US" i="1" dirty="0"/>
              <a:t> da 5 </a:t>
            </a:r>
            <a:r>
              <a:rPr lang="en-US" i="1" dirty="0" err="1"/>
              <a:t>crediti</a:t>
            </a:r>
            <a:r>
              <a:rPr lang="en-US" dirty="0"/>
              <a:t>, </a:t>
            </a:r>
            <a:r>
              <a:rPr lang="en-US" dirty="0" err="1"/>
              <a:t>ovvero</a:t>
            </a:r>
            <a:r>
              <a:rPr lang="en-US" dirty="0"/>
              <a:t> circa 125h di </a:t>
            </a:r>
            <a:r>
              <a:rPr lang="en-US" dirty="0" err="1"/>
              <a:t>lavoro</a:t>
            </a:r>
            <a:r>
              <a:rPr lang="en-US" dirty="0"/>
              <a:t>, per </a:t>
            </a:r>
            <a:r>
              <a:rPr lang="en-US" dirty="0" err="1"/>
              <a:t>studente</a:t>
            </a:r>
            <a:r>
              <a:rPr lang="en-US" dirty="0"/>
              <a:t> </a:t>
            </a:r>
            <a:r>
              <a:rPr lang="en-US" dirty="0" err="1"/>
              <a:t>coinvolto</a:t>
            </a:r>
            <a:r>
              <a:rPr lang="en-US" dirty="0"/>
              <a:t>. GROUP can be of </a:t>
            </a:r>
            <a:r>
              <a:rPr lang="en-US" dirty="0">
                <a:highlight>
                  <a:srgbClr val="FFFF00"/>
                </a:highlight>
              </a:rPr>
              <a:t>2 students </a:t>
            </a:r>
            <a:r>
              <a:rPr lang="en-US" dirty="0"/>
              <a:t>– exceptionally of </a:t>
            </a:r>
            <a:r>
              <a:rPr lang="en-US" dirty="0">
                <a:highlight>
                  <a:srgbClr val="FFFF00"/>
                </a:highlight>
              </a:rPr>
              <a:t>3 students  </a:t>
            </a:r>
          </a:p>
          <a:p>
            <a:endParaRPr lang="it-IT" dirty="0"/>
          </a:p>
        </p:txBody>
      </p:sp>
    </p:spTree>
    <p:extLst>
      <p:ext uri="{BB962C8B-B14F-4D97-AF65-F5344CB8AC3E}">
        <p14:creationId xmlns:p14="http://schemas.microsoft.com/office/powerpoint/2010/main" val="21298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53C69-0537-47EF-AD0E-EE240907FCB8}"/>
              </a:ext>
            </a:extLst>
          </p:cNvPr>
          <p:cNvSpPr>
            <a:spLocks noGrp="1"/>
          </p:cNvSpPr>
          <p:nvPr>
            <p:ph type="title"/>
          </p:nvPr>
        </p:nvSpPr>
        <p:spPr/>
        <p:txBody>
          <a:bodyPr/>
          <a:lstStyle/>
          <a:p>
            <a:r>
              <a:rPr lang="it-IT" dirty="0"/>
              <a:t>PII  </a:t>
            </a:r>
            <a:r>
              <a:rPr lang="it-IT" dirty="0">
                <a:solidFill>
                  <a:srgbClr val="FF0000"/>
                </a:solidFill>
              </a:rPr>
              <a:t>GEO Informatics Project   </a:t>
            </a:r>
            <a:r>
              <a:rPr lang="it-IT" dirty="0"/>
              <a:t>5 credits –Selection of a Project</a:t>
            </a:r>
            <a:endParaRPr lang="en-US" dirty="0"/>
          </a:p>
        </p:txBody>
      </p:sp>
      <p:sp>
        <p:nvSpPr>
          <p:cNvPr id="3" name="Content Placeholder 2">
            <a:extLst>
              <a:ext uri="{FF2B5EF4-FFF2-40B4-BE49-F238E27FC236}">
                <a16:creationId xmlns:a16="http://schemas.microsoft.com/office/drawing/2014/main" id="{BBB077F5-1446-47B9-9F28-B148AB8A5C6B}"/>
              </a:ext>
            </a:extLst>
          </p:cNvPr>
          <p:cNvSpPr>
            <a:spLocks noGrp="1"/>
          </p:cNvSpPr>
          <p:nvPr>
            <p:ph idx="1"/>
          </p:nvPr>
        </p:nvSpPr>
        <p:spPr>
          <a:xfrm>
            <a:off x="838199" y="1582994"/>
            <a:ext cx="10645877" cy="5063612"/>
          </a:xfrm>
        </p:spPr>
        <p:txBody>
          <a:bodyPr>
            <a:normAutofit fontScale="92500"/>
          </a:bodyPr>
          <a:lstStyle/>
          <a:p>
            <a:r>
              <a:rPr lang="en-US" dirty="0">
                <a:solidFill>
                  <a:schemeClr val="accent5"/>
                </a:solidFill>
              </a:rPr>
              <a:t>Student</a:t>
            </a:r>
            <a:r>
              <a:rPr lang="en-US" dirty="0"/>
              <a:t>  (or student group max 2): selects one of the projects from the list or asks an area </a:t>
            </a:r>
            <a:r>
              <a:rPr lang="en-US" dirty="0">
                <a:solidFill>
                  <a:srgbClr val="FF0000"/>
                </a:solidFill>
              </a:rPr>
              <a:t>teacher</a:t>
            </a:r>
            <a:r>
              <a:rPr lang="en-US" dirty="0"/>
              <a:t> (GEO) for a possible project within an area among the list of areas </a:t>
            </a:r>
          </a:p>
          <a:p>
            <a:r>
              <a:rPr lang="en-US" dirty="0"/>
              <a:t> </a:t>
            </a:r>
            <a:r>
              <a:rPr lang="en-US" dirty="0">
                <a:solidFill>
                  <a:schemeClr val="accent5"/>
                </a:solidFill>
              </a:rPr>
              <a:t>Student: </a:t>
            </a:r>
            <a:r>
              <a:rPr lang="en-US" dirty="0"/>
              <a:t>contacts the </a:t>
            </a:r>
            <a:r>
              <a:rPr lang="en-US" dirty="0">
                <a:solidFill>
                  <a:srgbClr val="FF0000"/>
                </a:solidFill>
              </a:rPr>
              <a:t>teacher</a:t>
            </a:r>
            <a:r>
              <a:rPr lang="en-US" dirty="0"/>
              <a:t> about the availability of the project </a:t>
            </a:r>
          </a:p>
          <a:p>
            <a:r>
              <a:rPr lang="en-US" dirty="0">
                <a:solidFill>
                  <a:srgbClr val="FF0000"/>
                </a:solidFill>
              </a:rPr>
              <a:t>Teacher</a:t>
            </a:r>
            <a:r>
              <a:rPr lang="en-US" dirty="0"/>
              <a:t> (or any collaborators indicated) are responsible for publishing the project and then following the development and delivery </a:t>
            </a:r>
          </a:p>
          <a:p>
            <a:r>
              <a:rPr lang="en-US" dirty="0"/>
              <a:t>Once agreed with the </a:t>
            </a:r>
            <a:r>
              <a:rPr lang="en-US" dirty="0">
                <a:solidFill>
                  <a:srgbClr val="FF0000"/>
                </a:solidFill>
              </a:rPr>
              <a:t>teacher</a:t>
            </a:r>
            <a:r>
              <a:rPr lang="en-US" dirty="0"/>
              <a:t>, the </a:t>
            </a:r>
            <a:r>
              <a:rPr lang="en-US" dirty="0">
                <a:solidFill>
                  <a:schemeClr val="accent5"/>
                </a:solidFill>
              </a:rPr>
              <a:t>student</a:t>
            </a:r>
            <a:r>
              <a:rPr lang="en-US" dirty="0"/>
              <a:t> notifies the </a:t>
            </a:r>
            <a:r>
              <a:rPr lang="en-US" dirty="0">
                <a:solidFill>
                  <a:schemeClr val="accent5"/>
                </a:solidFill>
              </a:rPr>
              <a:t>course owner </a:t>
            </a:r>
            <a:r>
              <a:rPr lang="en-US" dirty="0"/>
              <a:t>(FUGINI) by email about the choice, specifying the project title, coordinator, group composition, etc... and a short abstract describing it. </a:t>
            </a:r>
          </a:p>
          <a:p>
            <a:r>
              <a:rPr lang="en-US" dirty="0"/>
              <a:t>The activity of the Project is designed to be congruent with a course of 5 credits, or about 125 hours of work, per student involved. </a:t>
            </a:r>
          </a:p>
          <a:p>
            <a:r>
              <a:rPr lang="en-US" dirty="0">
                <a:solidFill>
                  <a:schemeClr val="accent5"/>
                </a:solidFill>
              </a:rPr>
              <a:t>GROUPS</a:t>
            </a:r>
            <a:r>
              <a:rPr lang="en-US" dirty="0"/>
              <a:t> can be of 2 students – </a:t>
            </a:r>
          </a:p>
        </p:txBody>
      </p:sp>
    </p:spTree>
    <p:extLst>
      <p:ext uri="{BB962C8B-B14F-4D97-AF65-F5344CB8AC3E}">
        <p14:creationId xmlns:p14="http://schemas.microsoft.com/office/powerpoint/2010/main" val="1439162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934F4BC-C624-1E4C-87D2-1671AFCAC3B2}"/>
              </a:ext>
            </a:extLst>
          </p:cNvPr>
          <p:cNvSpPr>
            <a:spLocks noGrp="1"/>
          </p:cNvSpPr>
          <p:nvPr>
            <p:ph type="title"/>
          </p:nvPr>
        </p:nvSpPr>
        <p:spPr/>
        <p:txBody>
          <a:bodyPr/>
          <a:lstStyle/>
          <a:p>
            <a:r>
              <a:rPr lang="it-IT" dirty="0"/>
              <a:t>PII – Consegna  e registrazione voto del progetto</a:t>
            </a:r>
          </a:p>
        </p:txBody>
      </p:sp>
      <p:sp>
        <p:nvSpPr>
          <p:cNvPr id="3" name="Segnaposto contenuto 2">
            <a:extLst>
              <a:ext uri="{FF2B5EF4-FFF2-40B4-BE49-F238E27FC236}">
                <a16:creationId xmlns:a16="http://schemas.microsoft.com/office/drawing/2014/main" id="{273A1ED2-E342-2D4A-886A-0AE0751DDB99}"/>
              </a:ext>
            </a:extLst>
          </p:cNvPr>
          <p:cNvSpPr>
            <a:spLocks noGrp="1"/>
          </p:cNvSpPr>
          <p:nvPr>
            <p:ph idx="1"/>
          </p:nvPr>
        </p:nvSpPr>
        <p:spPr>
          <a:xfrm>
            <a:off x="838200" y="1825625"/>
            <a:ext cx="10622280" cy="4667250"/>
          </a:xfrm>
        </p:spPr>
        <p:txBody>
          <a:bodyPr>
            <a:normAutofit fontScale="70000" lnSpcReduction="20000"/>
          </a:bodyPr>
          <a:lstStyle/>
          <a:p>
            <a:pPr fontAlgn="base"/>
            <a:r>
              <a:rPr lang="it-IT" dirty="0"/>
              <a:t>Per registrare il voto, lo studente deve procedere alla </a:t>
            </a:r>
            <a:r>
              <a:rPr lang="it-IT" b="1" dirty="0">
                <a:solidFill>
                  <a:srgbClr val="FF0000"/>
                </a:solidFill>
              </a:rPr>
              <a:t>consegna</a:t>
            </a:r>
            <a:r>
              <a:rPr lang="it-IT" dirty="0"/>
              <a:t> DELIVER ovvero: </a:t>
            </a:r>
          </a:p>
          <a:p>
            <a:pPr marL="914400" lvl="1" indent="-457200" fontAlgn="base">
              <a:buFont typeface="+mj-lt"/>
              <a:buAutoNum type="arabicPeriod"/>
            </a:pPr>
            <a:r>
              <a:rPr lang="it-IT" dirty="0"/>
              <a:t>lo studente deve inviare il materiale del progetto al docente responsabile del progetto (o tutto il materiale di cui il responsabile ha bisogno e che viene richiesto)</a:t>
            </a:r>
          </a:p>
          <a:p>
            <a:pPr marL="914400" lvl="1" indent="-457200" fontAlgn="base">
              <a:buFont typeface="+mj-lt"/>
              <a:buAutoNum type="arabicPeriod"/>
            </a:pPr>
            <a:r>
              <a:rPr lang="it-IT" dirty="0"/>
              <a:t>Il </a:t>
            </a:r>
            <a:r>
              <a:rPr lang="it-IT" dirty="0">
                <a:solidFill>
                  <a:srgbClr val="FF0000"/>
                </a:solidFill>
              </a:rPr>
              <a:t>docente di riferimento </a:t>
            </a:r>
            <a:r>
              <a:rPr lang="it-IT" dirty="0"/>
              <a:t>approva il materiale invia la propria valutazione al titolare del corso (FUGINI)  - step transaparent to student </a:t>
            </a:r>
          </a:p>
          <a:p>
            <a:pPr marL="914400" lvl="1" indent="-457200" fontAlgn="base">
              <a:buFont typeface="+mj-lt"/>
              <a:buAutoNum type="arabicPeriod"/>
            </a:pPr>
            <a:r>
              <a:rPr lang="it-IT" dirty="0"/>
              <a:t>Lo studente deve inviare una relazione </a:t>
            </a:r>
            <a:r>
              <a:rPr lang="it-IT" dirty="0">
                <a:solidFill>
                  <a:srgbClr val="FF0000"/>
                </a:solidFill>
              </a:rPr>
              <a:t>REPORT </a:t>
            </a:r>
            <a:r>
              <a:rPr lang="it-IT" dirty="0"/>
              <a:t>del progetto al titolare del corso tramite (FUGINI) una cartella di consegna predisposta in </a:t>
            </a:r>
            <a:r>
              <a:rPr lang="it-IT" b="1" dirty="0">
                <a:solidFill>
                  <a:srgbClr val="FF0000"/>
                </a:solidFill>
              </a:rPr>
              <a:t>WEBEEP in </a:t>
            </a:r>
            <a:r>
              <a:rPr lang="it-IT" b="1" dirty="0"/>
              <a:t>  </a:t>
            </a:r>
          </a:p>
          <a:p>
            <a:pPr marL="0" indent="0">
              <a:buNone/>
            </a:pPr>
            <a:r>
              <a:rPr lang="it-IT" dirty="0"/>
              <a:t>CONSEGNE</a:t>
            </a:r>
            <a:endParaRPr lang="en-US" dirty="0"/>
          </a:p>
          <a:p>
            <a:r>
              <a:rPr lang="it-IT" u="sng" dirty="0">
                <a:hlinkClick r:id="rId2"/>
              </a:rPr>
              <a:t> https://webeep.polimi.it/mod/assign/view.php?id=237834&amp;action=grading</a:t>
            </a:r>
            <a:endParaRPr lang="en-US" dirty="0"/>
          </a:p>
          <a:p>
            <a:r>
              <a:rPr lang="it-IT" dirty="0"/>
              <a:t> </a:t>
            </a:r>
            <a:endParaRPr lang="en-US" dirty="0"/>
          </a:p>
          <a:p>
            <a:pPr marL="457200" lvl="1" indent="0" fontAlgn="base">
              <a:buNone/>
            </a:pPr>
            <a:r>
              <a:rPr lang="it-IT" dirty="0"/>
              <a:t>When? </a:t>
            </a:r>
            <a:r>
              <a:rPr lang="it-IT" dirty="0">
                <a:highlight>
                  <a:srgbClr val="FFFF00"/>
                </a:highlight>
              </a:rPr>
              <a:t>10 days </a:t>
            </a:r>
            <a:r>
              <a:rPr lang="it-IT" dirty="0" err="1">
                <a:highlight>
                  <a:srgbClr val="FFFF00"/>
                </a:highlight>
              </a:rPr>
              <a:t>before</a:t>
            </a:r>
            <a:r>
              <a:rPr lang="it-IT" dirty="0">
                <a:highlight>
                  <a:srgbClr val="FFFF00"/>
                </a:highlight>
              </a:rPr>
              <a:t> the official date of the </a:t>
            </a:r>
            <a:r>
              <a:rPr lang="it-IT" dirty="0" err="1">
                <a:highlight>
                  <a:srgbClr val="FFFF00"/>
                </a:highlight>
              </a:rPr>
              <a:t>exam</a:t>
            </a:r>
            <a:r>
              <a:rPr lang="it-IT" dirty="0">
                <a:highlight>
                  <a:srgbClr val="FFFF00"/>
                </a:highlight>
              </a:rPr>
              <a:t>.  UPLOAD DOC. (REPORT)</a:t>
            </a:r>
          </a:p>
          <a:p>
            <a:pPr marL="457200" lvl="1" indent="0" fontAlgn="base">
              <a:buNone/>
            </a:pPr>
            <a:endParaRPr lang="it-IT" dirty="0"/>
          </a:p>
          <a:p>
            <a:pPr marL="914400" lvl="1" indent="-457200" fontAlgn="base">
              <a:buFont typeface="+mj-lt"/>
              <a:buAutoNum type="arabicPeriod"/>
            </a:pPr>
            <a:r>
              <a:rPr lang="it-IT" dirty="0"/>
              <a:t>Seguirà una possibile convocazione per una breve discussione del progetto con il titolare del corso (FUGINI)</a:t>
            </a:r>
          </a:p>
          <a:p>
            <a:pPr marL="914400" lvl="1" indent="-457200" fontAlgn="base">
              <a:buFont typeface="+mj-lt"/>
              <a:buAutoNum type="arabicPeriod"/>
            </a:pPr>
            <a:r>
              <a:rPr lang="it-IT" dirty="0"/>
              <a:t>GRADE   RESP-FUGINI    </a:t>
            </a:r>
            <a:r>
              <a:rPr lang="it-IT" dirty="0">
                <a:sym typeface="Wingdings" panose="05000000000000000000" pitchFamily="2" charset="2"/>
              </a:rPr>
              <a:t> 30L (30 </a:t>
            </a:r>
            <a:r>
              <a:rPr lang="it-IT" dirty="0" err="1">
                <a:sym typeface="Wingdings" panose="05000000000000000000" pitchFamily="2" charset="2"/>
              </a:rPr>
              <a:t>if</a:t>
            </a:r>
            <a:r>
              <a:rPr lang="it-IT" dirty="0">
                <a:sym typeface="Wingdings" panose="05000000000000000000" pitchFamily="2" charset="2"/>
              </a:rPr>
              <a:t> doc </a:t>
            </a:r>
            <a:r>
              <a:rPr lang="it-IT" dirty="0" err="1">
                <a:sym typeface="Wingdings" panose="05000000000000000000" pitchFamily="2" charset="2"/>
              </a:rPr>
              <a:t>not</a:t>
            </a:r>
            <a:r>
              <a:rPr lang="it-IT" dirty="0">
                <a:sym typeface="Wingdings" panose="05000000000000000000" pitchFamily="2" charset="2"/>
              </a:rPr>
              <a:t> ok to be) </a:t>
            </a:r>
            <a:endParaRPr lang="it-IT" dirty="0"/>
          </a:p>
          <a:p>
            <a:pPr fontAlgn="base"/>
            <a:r>
              <a:rPr lang="it-IT" dirty="0"/>
              <a:t>Si può comunicare la </a:t>
            </a:r>
            <a:r>
              <a:rPr lang="it-IT" dirty="0">
                <a:solidFill>
                  <a:srgbClr val="FF0000"/>
                </a:solidFill>
              </a:rPr>
              <a:t>fine del progetto </a:t>
            </a:r>
            <a:r>
              <a:rPr lang="it-IT" dirty="0"/>
              <a:t>e iniziare la procedura di registrazione </a:t>
            </a:r>
            <a:r>
              <a:rPr lang="it-IT" i="1" dirty="0"/>
              <a:t>in qualunque momento </a:t>
            </a:r>
          </a:p>
          <a:p>
            <a:pPr lvl="1" fontAlgn="base"/>
            <a:r>
              <a:rPr lang="it-IT" dirty="0"/>
              <a:t>I voti verranno comunque registrati in corrispondenza </a:t>
            </a:r>
            <a:r>
              <a:rPr lang="it-IT" dirty="0">
                <a:solidFill>
                  <a:srgbClr val="FF0000"/>
                </a:solidFill>
              </a:rPr>
              <a:t>degli appelli previsti</a:t>
            </a:r>
          </a:p>
          <a:p>
            <a:pPr lvl="1" fontAlgn="base"/>
            <a:r>
              <a:rPr lang="it-IT" dirty="0"/>
              <a:t>Gli studenti dovranno </a:t>
            </a:r>
            <a:r>
              <a:rPr lang="it-IT" dirty="0">
                <a:solidFill>
                  <a:srgbClr val="FF0000"/>
                </a:solidFill>
              </a:rPr>
              <a:t>iscriversi al primo appello disponibile </a:t>
            </a:r>
            <a:r>
              <a:rPr lang="it-IT" dirty="0"/>
              <a:t>per registrare il voto</a:t>
            </a:r>
          </a:p>
          <a:p>
            <a:endParaRPr lang="it-IT" dirty="0"/>
          </a:p>
        </p:txBody>
      </p:sp>
    </p:spTree>
    <p:extLst>
      <p:ext uri="{BB962C8B-B14F-4D97-AF65-F5344CB8AC3E}">
        <p14:creationId xmlns:p14="http://schemas.microsoft.com/office/powerpoint/2010/main" val="482832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20120-19CF-473F-B58A-4DC69C546B5B}"/>
              </a:ext>
            </a:extLst>
          </p:cNvPr>
          <p:cNvSpPr>
            <a:spLocks noGrp="1"/>
          </p:cNvSpPr>
          <p:nvPr>
            <p:ph type="title"/>
          </p:nvPr>
        </p:nvSpPr>
        <p:spPr>
          <a:xfrm>
            <a:off x="612058" y="60325"/>
            <a:ext cx="10515600" cy="1325563"/>
          </a:xfrm>
        </p:spPr>
        <p:txBody>
          <a:bodyPr>
            <a:normAutofit/>
          </a:bodyPr>
          <a:lstStyle/>
          <a:p>
            <a:r>
              <a:rPr lang="en-US" dirty="0"/>
              <a:t>PII – Delivery and registration</a:t>
            </a:r>
            <a:br>
              <a:rPr lang="en-US" dirty="0"/>
            </a:br>
            <a:endParaRPr lang="en-US" dirty="0"/>
          </a:p>
        </p:txBody>
      </p:sp>
      <p:sp>
        <p:nvSpPr>
          <p:cNvPr id="3" name="Content Placeholder 2">
            <a:extLst>
              <a:ext uri="{FF2B5EF4-FFF2-40B4-BE49-F238E27FC236}">
                <a16:creationId xmlns:a16="http://schemas.microsoft.com/office/drawing/2014/main" id="{461C1036-43D1-4E59-9C61-E8284D797A87}"/>
              </a:ext>
            </a:extLst>
          </p:cNvPr>
          <p:cNvSpPr>
            <a:spLocks noGrp="1"/>
          </p:cNvSpPr>
          <p:nvPr>
            <p:ph idx="1"/>
          </p:nvPr>
        </p:nvSpPr>
        <p:spPr>
          <a:xfrm>
            <a:off x="838200" y="1052052"/>
            <a:ext cx="10515600" cy="5124911"/>
          </a:xfrm>
        </p:spPr>
        <p:txBody>
          <a:bodyPr>
            <a:normAutofit fontScale="40000" lnSpcReduction="20000"/>
          </a:bodyPr>
          <a:lstStyle/>
          <a:p>
            <a:pPr marL="0" indent="0">
              <a:buNone/>
            </a:pPr>
            <a:r>
              <a:rPr lang="en-US" sz="4200" dirty="0"/>
              <a:t>To record the grade:
</a:t>
            </a:r>
            <a:r>
              <a:rPr lang="en-US" sz="4200" dirty="0">
                <a:solidFill>
                  <a:schemeClr val="accent1"/>
                </a:solidFill>
              </a:rPr>
              <a:t>student</a:t>
            </a:r>
            <a:r>
              <a:rPr lang="en-US" sz="4200" dirty="0"/>
              <a:t> delivers the </a:t>
            </a:r>
            <a:r>
              <a:rPr lang="en-US" sz="4200" dirty="0">
                <a:solidFill>
                  <a:srgbClr val="FF0000"/>
                </a:solidFill>
              </a:rPr>
              <a:t>project material </a:t>
            </a:r>
            <a:r>
              <a:rPr lang="en-US" sz="4200" dirty="0"/>
              <a:t>to the </a:t>
            </a:r>
            <a:r>
              <a:rPr lang="en-US" sz="4200" dirty="0">
                <a:solidFill>
                  <a:srgbClr val="FF0000"/>
                </a:solidFill>
              </a:rPr>
              <a:t>teacher</a:t>
            </a:r>
            <a:r>
              <a:rPr lang="en-US" sz="4200" dirty="0"/>
              <a:t> and get the approval of conclusion
</a:t>
            </a:r>
            <a:r>
              <a:rPr lang="en-US" sz="4200" dirty="0">
                <a:solidFill>
                  <a:srgbClr val="FF0000"/>
                </a:solidFill>
              </a:rPr>
              <a:t>teacher</a:t>
            </a:r>
            <a:r>
              <a:rPr lang="en-US" sz="4200" dirty="0"/>
              <a:t>  sends an evaluation to the </a:t>
            </a:r>
            <a:r>
              <a:rPr lang="en-US" sz="4400" dirty="0">
                <a:solidFill>
                  <a:schemeClr val="accent5"/>
                </a:solidFill>
              </a:rPr>
              <a:t>course owner</a:t>
            </a:r>
            <a:r>
              <a:rPr lang="en-US" sz="4200" dirty="0"/>
              <a:t> (FUGINI) 
</a:t>
            </a:r>
            <a:r>
              <a:rPr lang="en-US" sz="4200" dirty="0">
                <a:solidFill>
                  <a:schemeClr val="accent1"/>
                </a:solidFill>
              </a:rPr>
              <a:t>student</a:t>
            </a:r>
            <a:r>
              <a:rPr lang="en-US" sz="4200" dirty="0"/>
              <a:t> uploads the project REPORT on WEBEEP in   </a:t>
            </a:r>
          </a:p>
          <a:p>
            <a:pPr marL="0" indent="0">
              <a:buNone/>
            </a:pPr>
            <a:r>
              <a:rPr lang="en-US" sz="4200" dirty="0"/>
              <a:t>      DELIVERIES  https://webeep.polimi.it/mod/assign/view.php?id=237834&amp;action=grading
When? 10 days before the date of the exam.  DO NOT DELIVER VIA MAIL  </a:t>
            </a:r>
          </a:p>
          <a:p>
            <a:pPr marL="0" indent="0">
              <a:buNone/>
            </a:pPr>
            <a:r>
              <a:rPr lang="en-US" sz="4200" dirty="0"/>
              <a:t> </a:t>
            </a:r>
            <a:r>
              <a:rPr lang="en-US" sz="4200" b="1" dirty="0">
                <a:solidFill>
                  <a:schemeClr val="accent6"/>
                </a:solidFill>
              </a:rPr>
              <a:t>NOTIFY TO FUGINI THAT YOU HAVE DELIVERED THE REPORT</a:t>
            </a:r>
          </a:p>
          <a:p>
            <a:pPr marL="0" indent="0">
              <a:buNone/>
            </a:pPr>
            <a:r>
              <a:rPr lang="en-US" sz="4200" dirty="0"/>
              <a:t>
This will be followed by a possible convocation for a discussion of the project with the </a:t>
            </a:r>
            <a:r>
              <a:rPr lang="en-US" sz="4200" dirty="0">
                <a:solidFill>
                  <a:schemeClr val="accent1"/>
                </a:solidFill>
              </a:rPr>
              <a:t>course owner</a:t>
            </a:r>
            <a:r>
              <a:rPr lang="en-US" sz="4200" dirty="0"/>
              <a:t> (FUGINI)
</a:t>
            </a:r>
            <a:r>
              <a:rPr lang="en-US" sz="4200" dirty="0">
                <a:solidFill>
                  <a:schemeClr val="accent1"/>
                </a:solidFill>
              </a:rPr>
              <a:t>Student</a:t>
            </a:r>
            <a:r>
              <a:rPr lang="en-US" sz="4200" dirty="0"/>
              <a:t> can communicate the end of the project and start the registration process </a:t>
            </a:r>
            <a:r>
              <a:rPr lang="en-US" sz="4200" dirty="0">
                <a:highlight>
                  <a:srgbClr val="FFFF00"/>
                </a:highlight>
              </a:rPr>
              <a:t>at any time </a:t>
            </a:r>
            <a:r>
              <a:rPr lang="en-US" sz="4200" dirty="0"/>
              <a:t>
</a:t>
            </a:r>
          </a:p>
          <a:p>
            <a:pPr marL="0" indent="0">
              <a:buNone/>
            </a:pPr>
            <a:r>
              <a:rPr lang="en-US" sz="4200" dirty="0"/>
              <a:t>Grades are recorded ONLY in correspondence with the scheduled exams
</a:t>
            </a:r>
            <a:r>
              <a:rPr lang="en-US" sz="4200" dirty="0">
                <a:solidFill>
                  <a:schemeClr val="accent1"/>
                </a:solidFill>
              </a:rPr>
              <a:t>Students</a:t>
            </a:r>
            <a:r>
              <a:rPr lang="en-US" sz="4200" dirty="0"/>
              <a:t> must register to record the grade</a:t>
            </a:r>
          </a:p>
          <a:p>
            <a:endParaRPr lang="en-US" dirty="0"/>
          </a:p>
        </p:txBody>
      </p:sp>
    </p:spTree>
    <p:extLst>
      <p:ext uri="{BB962C8B-B14F-4D97-AF65-F5344CB8AC3E}">
        <p14:creationId xmlns:p14="http://schemas.microsoft.com/office/powerpoint/2010/main" val="1238266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a:t>Evaluation Criteria</a:t>
            </a:r>
            <a:endParaRPr lang="en-US" dirty="0"/>
          </a:p>
        </p:txBody>
      </p:sp>
      <p:sp>
        <p:nvSpPr>
          <p:cNvPr id="3" name="Content Placeholder 2"/>
          <p:cNvSpPr>
            <a:spLocks noGrp="1"/>
          </p:cNvSpPr>
          <p:nvPr>
            <p:ph idx="1"/>
          </p:nvPr>
        </p:nvSpPr>
        <p:spPr>
          <a:xfrm>
            <a:off x="838200" y="1376892"/>
            <a:ext cx="10515600" cy="4351338"/>
          </a:xfrm>
        </p:spPr>
        <p:txBody>
          <a:bodyPr>
            <a:normAutofit/>
          </a:bodyPr>
          <a:lstStyle/>
          <a:p>
            <a:pPr marL="0" indent="0">
              <a:buNone/>
            </a:pPr>
            <a:r>
              <a:rPr lang="it-IT"/>
              <a:t>See last slide </a:t>
            </a:r>
            <a:endParaRPr lang="it-IT" dirty="0"/>
          </a:p>
          <a:p>
            <a:endParaRPr lang="it-IT" dirty="0"/>
          </a:p>
          <a:p>
            <a:endParaRPr lang="en-US" dirty="0"/>
          </a:p>
        </p:txBody>
      </p:sp>
    </p:spTree>
    <p:extLst>
      <p:ext uri="{BB962C8B-B14F-4D97-AF65-F5344CB8AC3E}">
        <p14:creationId xmlns:p14="http://schemas.microsoft.com/office/powerpoint/2010/main" val="3698061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D0DD9578-0C22-9548-8387-FB673E087892}"/>
              </a:ext>
            </a:extLst>
          </p:cNvPr>
          <p:cNvSpPr>
            <a:spLocks noGrp="1"/>
          </p:cNvSpPr>
          <p:nvPr>
            <p:ph type="subTitle" idx="1"/>
          </p:nvPr>
        </p:nvSpPr>
        <p:spPr/>
        <p:txBody>
          <a:bodyPr>
            <a:normAutofit/>
          </a:bodyPr>
          <a:lstStyle/>
          <a:p>
            <a:r>
              <a:rPr lang="it-IT" dirty="0"/>
              <a:t>Prof. Mariagrazia Fugini</a:t>
            </a:r>
          </a:p>
          <a:p>
            <a:r>
              <a:rPr lang="it-IT" dirty="0">
                <a:hlinkClick r:id="rId2"/>
              </a:rPr>
              <a:t>mariagrazia.fugini@polimi.it</a:t>
            </a:r>
            <a:br>
              <a:rPr lang="it-IT" dirty="0"/>
            </a:br>
            <a:endParaRPr lang="it-IT" dirty="0"/>
          </a:p>
          <a:p>
            <a:endParaRPr lang="it-IT" dirty="0"/>
          </a:p>
        </p:txBody>
      </p:sp>
      <p:sp>
        <p:nvSpPr>
          <p:cNvPr id="2" name="Titolo 1">
            <a:extLst>
              <a:ext uri="{FF2B5EF4-FFF2-40B4-BE49-F238E27FC236}">
                <a16:creationId xmlns:a16="http://schemas.microsoft.com/office/drawing/2014/main" id="{B1B91BDC-E0EB-7246-B363-294C4D41E680}"/>
              </a:ext>
            </a:extLst>
          </p:cNvPr>
          <p:cNvSpPr>
            <a:spLocks noGrp="1"/>
          </p:cNvSpPr>
          <p:nvPr>
            <p:ph type="ctrTitle"/>
          </p:nvPr>
        </p:nvSpPr>
        <p:spPr/>
        <p:txBody>
          <a:bodyPr>
            <a:normAutofit fontScale="90000"/>
          </a:bodyPr>
          <a:lstStyle/>
          <a:p>
            <a:r>
              <a:rPr lang="it-IT" sz="4900" i="1" dirty="0"/>
              <a:t>Progetto di Ingegneria Informatica (PII)</a:t>
            </a:r>
            <a:br>
              <a:rPr lang="it-IT" dirty="0"/>
            </a:br>
            <a:r>
              <a:rPr lang="it-IT" sz="6700" b="1" dirty="0" err="1">
                <a:solidFill>
                  <a:srgbClr val="C00000"/>
                </a:solidFill>
              </a:rPr>
              <a:t>GeoInformatics</a:t>
            </a:r>
            <a:r>
              <a:rPr lang="it-IT" sz="6700" b="1" dirty="0">
                <a:solidFill>
                  <a:srgbClr val="C00000"/>
                </a:solidFill>
              </a:rPr>
              <a:t> Project (GIP)</a:t>
            </a:r>
            <a:endParaRPr lang="it-IT" b="1" dirty="0">
              <a:solidFill>
                <a:srgbClr val="C00000"/>
              </a:solidFill>
            </a:endParaRPr>
          </a:p>
        </p:txBody>
      </p:sp>
    </p:spTree>
    <p:extLst>
      <p:ext uri="{BB962C8B-B14F-4D97-AF65-F5344CB8AC3E}">
        <p14:creationId xmlns:p14="http://schemas.microsoft.com/office/powerpoint/2010/main" val="2901080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45E062-37E9-1E4F-AF43-1568E769E0BF}"/>
              </a:ext>
            </a:extLst>
          </p:cNvPr>
          <p:cNvSpPr>
            <a:spLocks noGrp="1"/>
          </p:cNvSpPr>
          <p:nvPr>
            <p:ph type="title"/>
          </p:nvPr>
        </p:nvSpPr>
        <p:spPr/>
        <p:txBody>
          <a:bodyPr/>
          <a:lstStyle/>
          <a:p>
            <a:r>
              <a:rPr lang="it-IT" dirty="0"/>
              <a:t>PII/GIP - Website</a:t>
            </a:r>
          </a:p>
        </p:txBody>
      </p:sp>
      <p:sp>
        <p:nvSpPr>
          <p:cNvPr id="3" name="Segnaposto contenuto 2">
            <a:extLst>
              <a:ext uri="{FF2B5EF4-FFF2-40B4-BE49-F238E27FC236}">
                <a16:creationId xmlns:a16="http://schemas.microsoft.com/office/drawing/2014/main" id="{8D4816AC-5A4C-4248-8AFB-0458BAE068EE}"/>
              </a:ext>
            </a:extLst>
          </p:cNvPr>
          <p:cNvSpPr>
            <a:spLocks noGrp="1"/>
          </p:cNvSpPr>
          <p:nvPr>
            <p:ph idx="1"/>
          </p:nvPr>
        </p:nvSpPr>
        <p:spPr>
          <a:xfrm>
            <a:off x="505326" y="1825625"/>
            <a:ext cx="6144856" cy="3755778"/>
          </a:xfrm>
        </p:spPr>
        <p:txBody>
          <a:bodyPr>
            <a:normAutofit lnSpcReduction="10000"/>
          </a:bodyPr>
          <a:lstStyle/>
          <a:p>
            <a:endParaRPr lang="it-IT" dirty="0"/>
          </a:p>
          <a:p>
            <a:r>
              <a:rPr lang="it-IT" dirty="0" err="1"/>
              <a:t>Procedures</a:t>
            </a:r>
            <a:endParaRPr lang="it-IT" dirty="0"/>
          </a:p>
          <a:p>
            <a:r>
              <a:rPr lang="it-IT" dirty="0"/>
              <a:t>List of </a:t>
            </a:r>
            <a:r>
              <a:rPr lang="it-IT" dirty="0" err="1"/>
              <a:t>projects</a:t>
            </a:r>
            <a:endParaRPr lang="it-IT" dirty="0"/>
          </a:p>
          <a:p>
            <a:endParaRPr lang="it-IT" dirty="0"/>
          </a:p>
          <a:p>
            <a:r>
              <a:rPr lang="it-IT" dirty="0"/>
              <a:t>WEBEEP will be also used to share document</a:t>
            </a:r>
          </a:p>
          <a:p>
            <a:r>
              <a:rPr lang="it-IT" dirty="0">
                <a:hlinkClick r:id="rId2"/>
              </a:rPr>
              <a:t>https://pii.deib.polimi.it/geoinformatics-project/</a:t>
            </a:r>
            <a:endParaRPr lang="it-IT" dirty="0"/>
          </a:p>
        </p:txBody>
      </p:sp>
    </p:spTree>
    <p:extLst>
      <p:ext uri="{BB962C8B-B14F-4D97-AF65-F5344CB8AC3E}">
        <p14:creationId xmlns:p14="http://schemas.microsoft.com/office/powerpoint/2010/main" val="2408536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934F4BC-C624-1E4C-87D2-1671AFCAC3B2}"/>
              </a:ext>
            </a:extLst>
          </p:cNvPr>
          <p:cNvSpPr>
            <a:spLocks noGrp="1"/>
          </p:cNvSpPr>
          <p:nvPr>
            <p:ph type="title"/>
          </p:nvPr>
        </p:nvSpPr>
        <p:spPr/>
        <p:txBody>
          <a:bodyPr/>
          <a:lstStyle/>
          <a:p>
            <a:r>
              <a:rPr lang="it-IT" dirty="0"/>
              <a:t>Project </a:t>
            </a:r>
            <a:r>
              <a:rPr lang="it-IT" dirty="0" err="1"/>
              <a:t>finalization</a:t>
            </a:r>
            <a:r>
              <a:rPr lang="it-IT" dirty="0"/>
              <a:t> and </a:t>
            </a:r>
            <a:r>
              <a:rPr lang="it-IT" dirty="0" err="1"/>
              <a:t>evaluation</a:t>
            </a:r>
            <a:endParaRPr lang="it-IT" dirty="0"/>
          </a:p>
        </p:txBody>
      </p:sp>
      <p:sp>
        <p:nvSpPr>
          <p:cNvPr id="3" name="Segnaposto contenuto 2">
            <a:extLst>
              <a:ext uri="{FF2B5EF4-FFF2-40B4-BE49-F238E27FC236}">
                <a16:creationId xmlns:a16="http://schemas.microsoft.com/office/drawing/2014/main" id="{273A1ED2-E342-2D4A-886A-0AE0751DDB99}"/>
              </a:ext>
            </a:extLst>
          </p:cNvPr>
          <p:cNvSpPr>
            <a:spLocks noGrp="1"/>
          </p:cNvSpPr>
          <p:nvPr>
            <p:ph idx="1"/>
          </p:nvPr>
        </p:nvSpPr>
        <p:spPr/>
        <p:txBody>
          <a:bodyPr>
            <a:normAutofit fontScale="92500" lnSpcReduction="20000"/>
          </a:bodyPr>
          <a:lstStyle/>
          <a:p>
            <a:pPr fontAlgn="base"/>
            <a:r>
              <a:rPr lang="en-US" dirty="0"/>
              <a:t>The evaluation procedure requires that:</a:t>
            </a:r>
          </a:p>
          <a:p>
            <a:pPr marL="914400" lvl="1" indent="-457200" fontAlgn="base">
              <a:buFont typeface="+mj-lt"/>
              <a:buAutoNum type="arabicPeriod"/>
            </a:pPr>
            <a:r>
              <a:rPr lang="en-US" dirty="0"/>
              <a:t>The student sends the documentation to the professor responsible for the GEO project asking to start the evaluation procedure;</a:t>
            </a:r>
          </a:p>
          <a:p>
            <a:pPr marL="914400" lvl="1" indent="-457200" fontAlgn="base">
              <a:buFont typeface="+mj-lt"/>
              <a:buAutoNum type="arabicPeriod"/>
            </a:pPr>
            <a:r>
              <a:rPr lang="en-US" dirty="0"/>
              <a:t>The project supervisor approves the finalization and sends its evaluation to the course responsible;</a:t>
            </a:r>
          </a:p>
          <a:p>
            <a:pPr marL="914400" lvl="1" indent="-457200" fontAlgn="base">
              <a:buFont typeface="+mj-lt"/>
              <a:buAutoNum type="arabicPeriod"/>
            </a:pPr>
            <a:r>
              <a:rPr lang="en-US" dirty="0"/>
              <a:t>The student sends the project documentation to the course responsible, using a dedicated folder in BEEP;</a:t>
            </a:r>
          </a:p>
          <a:p>
            <a:pPr marL="914400" lvl="1" indent="-457200" fontAlgn="base">
              <a:buFont typeface="+mj-lt"/>
              <a:buAutoNum type="arabicPeriod"/>
            </a:pPr>
            <a:r>
              <a:rPr lang="en-US" dirty="0"/>
              <a:t>The course responsible asks the student for a short project discussion, starting from a short presentation prepared</a:t>
            </a:r>
          </a:p>
          <a:p>
            <a:pPr fontAlgn="base"/>
            <a:r>
              <a:rPr lang="en-US" dirty="0"/>
              <a:t>The project can be concluded </a:t>
            </a:r>
            <a:r>
              <a:rPr lang="en-US" b="1" dirty="0"/>
              <a:t>at any moment </a:t>
            </a:r>
            <a:r>
              <a:rPr lang="en-US" dirty="0"/>
              <a:t>during the AY </a:t>
            </a:r>
          </a:p>
          <a:p>
            <a:pPr lvl="1" fontAlgn="base"/>
            <a:r>
              <a:rPr lang="en-US" dirty="0"/>
              <a:t>However, the verbalization of the obtained grade can be done only during the specific exam dates assigned by the school. </a:t>
            </a:r>
          </a:p>
          <a:p>
            <a:pPr lvl="1" fontAlgn="base"/>
            <a:r>
              <a:rPr lang="en-US" dirty="0"/>
              <a:t>It is mandatory for the student to be registered for the exam to conclude the verbalization procedure. </a:t>
            </a:r>
          </a:p>
        </p:txBody>
      </p:sp>
    </p:spTree>
    <p:extLst>
      <p:ext uri="{BB962C8B-B14F-4D97-AF65-F5344CB8AC3E}">
        <p14:creationId xmlns:p14="http://schemas.microsoft.com/office/powerpoint/2010/main" val="3576829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45E062-37E9-1E4F-AF43-1568E769E0BF}"/>
              </a:ext>
            </a:extLst>
          </p:cNvPr>
          <p:cNvSpPr>
            <a:spLocks noGrp="1"/>
          </p:cNvSpPr>
          <p:nvPr>
            <p:ph type="title"/>
          </p:nvPr>
        </p:nvSpPr>
        <p:spPr/>
        <p:txBody>
          <a:bodyPr/>
          <a:lstStyle/>
          <a:p>
            <a:r>
              <a:rPr lang="it-IT" dirty="0"/>
              <a:t>GIP – Project </a:t>
            </a:r>
            <a:r>
              <a:rPr lang="it-IT" dirty="0" err="1"/>
              <a:t>Selection</a:t>
            </a:r>
            <a:r>
              <a:rPr lang="it-IT" dirty="0"/>
              <a:t> Procedure</a:t>
            </a:r>
          </a:p>
        </p:txBody>
      </p:sp>
      <p:sp>
        <p:nvSpPr>
          <p:cNvPr id="3" name="Segnaposto contenuto 2">
            <a:extLst>
              <a:ext uri="{FF2B5EF4-FFF2-40B4-BE49-F238E27FC236}">
                <a16:creationId xmlns:a16="http://schemas.microsoft.com/office/drawing/2014/main" id="{8D4816AC-5A4C-4248-8AFB-0458BAE068EE}"/>
              </a:ext>
            </a:extLst>
          </p:cNvPr>
          <p:cNvSpPr>
            <a:spLocks noGrp="1"/>
          </p:cNvSpPr>
          <p:nvPr>
            <p:ph idx="1"/>
          </p:nvPr>
        </p:nvSpPr>
        <p:spPr>
          <a:xfrm>
            <a:off x="838200" y="1825624"/>
            <a:ext cx="10515600" cy="4575175"/>
          </a:xfrm>
        </p:spPr>
        <p:txBody>
          <a:bodyPr>
            <a:normAutofit fontScale="92500" lnSpcReduction="10000"/>
          </a:bodyPr>
          <a:lstStyle/>
          <a:p>
            <a:r>
              <a:rPr lang="en-US" dirty="0"/>
              <a:t>The student selects one of the projects in the list</a:t>
            </a:r>
          </a:p>
          <a:p>
            <a:r>
              <a:rPr lang="en-US" dirty="0"/>
              <a:t>The student contacts the responsible of the project to see if </a:t>
            </a:r>
            <a:r>
              <a:rPr lang="en-US" dirty="0">
                <a:solidFill>
                  <a:srgbClr val="FF0000"/>
                </a:solidFill>
              </a:rPr>
              <a:t>it</a:t>
            </a:r>
            <a:r>
              <a:rPr lang="en-US" dirty="0"/>
              <a:t> is available or if the responsible has alternative projects</a:t>
            </a:r>
          </a:p>
          <a:p>
            <a:pPr lvl="1"/>
            <a:r>
              <a:rPr lang="en-US" dirty="0"/>
              <a:t>The project development (evaluation) and tools needed are under the responsibility of the project supervisor. </a:t>
            </a:r>
          </a:p>
          <a:p>
            <a:r>
              <a:rPr lang="en-US" dirty="0"/>
              <a:t>Once reached an agreement with the responsible of the project, the student(s) notifies to the course responsible (FUGINI) some basic info about the project  (e.g. title, responsible, list of other students in the group </a:t>
            </a:r>
            <a:r>
              <a:rPr lang="en-US" dirty="0" err="1"/>
              <a:t>etc</a:t>
            </a:r>
            <a:r>
              <a:rPr lang="en-US" dirty="0"/>
              <a:t>…). Moreover a very brief abstract with the expected achievements of the project has to be sent to the course responsible.</a:t>
            </a:r>
          </a:p>
          <a:p>
            <a:r>
              <a:rPr lang="en-US" dirty="0"/>
              <a:t>The activity is tailored for a 5 credit course, which means around 125 hours per student involved in the project.</a:t>
            </a:r>
          </a:p>
          <a:p>
            <a:endParaRPr lang="en-US" dirty="0"/>
          </a:p>
        </p:txBody>
      </p:sp>
    </p:spTree>
    <p:extLst>
      <p:ext uri="{BB962C8B-B14F-4D97-AF65-F5344CB8AC3E}">
        <p14:creationId xmlns:p14="http://schemas.microsoft.com/office/powerpoint/2010/main" val="3467261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a:t>Evaluation Criteria</a:t>
            </a:r>
            <a:endParaRPr lang="en-US" dirty="0"/>
          </a:p>
        </p:txBody>
      </p:sp>
      <p:sp>
        <p:nvSpPr>
          <p:cNvPr id="3" name="Content Placeholder 2"/>
          <p:cNvSpPr>
            <a:spLocks noGrp="1"/>
          </p:cNvSpPr>
          <p:nvPr>
            <p:ph idx="1"/>
          </p:nvPr>
        </p:nvSpPr>
        <p:spPr>
          <a:xfrm>
            <a:off x="838200" y="1376892"/>
            <a:ext cx="10515600" cy="4351338"/>
          </a:xfrm>
        </p:spPr>
        <p:txBody>
          <a:bodyPr>
            <a:normAutofit fontScale="85000" lnSpcReduction="20000"/>
          </a:bodyPr>
          <a:lstStyle/>
          <a:p>
            <a:pPr marL="0" indent="0">
              <a:buNone/>
            </a:pPr>
            <a:r>
              <a:rPr lang="it-IT" dirty="0"/>
              <a:t>A Project is evaluated by the </a:t>
            </a:r>
            <a:r>
              <a:rPr lang="it-IT" i="1" dirty="0"/>
              <a:t>teacher and by the </a:t>
            </a:r>
            <a:r>
              <a:rPr lang="it-IT" i="1" dirty="0">
                <a:solidFill>
                  <a:srgbClr val="FF0000"/>
                </a:solidFill>
              </a:rPr>
              <a:t>course owner FUGINI </a:t>
            </a:r>
            <a:r>
              <a:rPr lang="it-IT" dirty="0"/>
              <a:t>on the basis of:</a:t>
            </a:r>
          </a:p>
          <a:p>
            <a:pPr marL="0" indent="0">
              <a:buNone/>
            </a:pPr>
            <a:endParaRPr lang="it-IT" dirty="0"/>
          </a:p>
          <a:p>
            <a:r>
              <a:rPr lang="it-IT" dirty="0"/>
              <a:t>Aderence to requirements</a:t>
            </a:r>
          </a:p>
          <a:p>
            <a:r>
              <a:rPr lang="it-IT" dirty="0"/>
              <a:t>Completness, correctness, quality of results</a:t>
            </a:r>
          </a:p>
          <a:p>
            <a:r>
              <a:rPr lang="it-IT" dirty="0"/>
              <a:t>Quality of the developed sw (</a:t>
            </a:r>
            <a:r>
              <a:rPr lang="it-IT" dirty="0">
                <a:highlight>
                  <a:srgbClr val="FFFF00"/>
                </a:highlight>
              </a:rPr>
              <a:t>is previewed</a:t>
            </a:r>
            <a:r>
              <a:rPr lang="it-IT" dirty="0"/>
              <a:t>)</a:t>
            </a:r>
          </a:p>
          <a:p>
            <a:r>
              <a:rPr lang="it-IT" dirty="0">
                <a:solidFill>
                  <a:srgbClr val="FF0000"/>
                </a:solidFill>
              </a:rPr>
              <a:t>Quality of the documentation</a:t>
            </a:r>
          </a:p>
          <a:p>
            <a:r>
              <a:rPr lang="it-IT" u="sng" dirty="0"/>
              <a:t>User manual </a:t>
            </a:r>
            <a:r>
              <a:rPr lang="it-IT" dirty="0"/>
              <a:t>(if previewed  sw   and it usually does)   </a:t>
            </a:r>
          </a:p>
          <a:p>
            <a:r>
              <a:rPr lang="it-IT" dirty="0">
                <a:highlight>
                  <a:srgbClr val="FFFF00"/>
                </a:highlight>
              </a:rPr>
              <a:t>Theoretical Projects,  Papers</a:t>
            </a:r>
            <a:r>
              <a:rPr lang="it-IT" dirty="0"/>
              <a:t> or Review of Literature are strongly discouraged</a:t>
            </a:r>
          </a:p>
          <a:p>
            <a:r>
              <a:rPr lang="it-IT" dirty="0" err="1">
                <a:solidFill>
                  <a:srgbClr val="FF0000"/>
                </a:solidFill>
              </a:rPr>
              <a:t>Relationship</a:t>
            </a:r>
            <a:r>
              <a:rPr lang="it-IT" dirty="0">
                <a:solidFill>
                  <a:srgbClr val="FF0000"/>
                </a:solidFill>
              </a:rPr>
              <a:t> of Project </a:t>
            </a:r>
            <a:r>
              <a:rPr lang="it-IT" dirty="0"/>
              <a:t>to </a:t>
            </a:r>
            <a:r>
              <a:rPr lang="it-IT" u="sng" dirty="0" err="1"/>
              <a:t>related</a:t>
            </a:r>
            <a:r>
              <a:rPr lang="it-IT" u="sng" dirty="0"/>
              <a:t> work  literature  </a:t>
            </a:r>
            <a:r>
              <a:rPr lang="it-IT" dirty="0"/>
              <a:t>(if previewed)</a:t>
            </a:r>
          </a:p>
          <a:p>
            <a:r>
              <a:rPr lang="it-IT" b="1" dirty="0"/>
              <a:t>Innovation introduced by the ideas </a:t>
            </a:r>
            <a:r>
              <a:rPr lang="it-IT" dirty="0"/>
              <a:t>(if the project is in a research line)</a:t>
            </a:r>
          </a:p>
          <a:p>
            <a:endParaRPr lang="it-IT" dirty="0"/>
          </a:p>
          <a:p>
            <a:endParaRPr lang="en-US" dirty="0"/>
          </a:p>
        </p:txBody>
      </p:sp>
    </p:spTree>
    <p:extLst>
      <p:ext uri="{BB962C8B-B14F-4D97-AF65-F5344CB8AC3E}">
        <p14:creationId xmlns:p14="http://schemas.microsoft.com/office/powerpoint/2010/main" val="2892202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066CCDC6-A495-C06E-4118-8715E49CC3A5}"/>
              </a:ext>
            </a:extLst>
          </p:cNvPr>
          <p:cNvSpPr>
            <a:spLocks noGrp="1"/>
          </p:cNvSpPr>
          <p:nvPr>
            <p:ph idx="1"/>
          </p:nvPr>
        </p:nvSpPr>
        <p:spPr>
          <a:xfrm>
            <a:off x="594360" y="893807"/>
            <a:ext cx="10805160" cy="5645785"/>
          </a:xfrm>
        </p:spPr>
        <p:txBody>
          <a:bodyPr>
            <a:normAutofit fontScale="70000" lnSpcReduction="20000"/>
          </a:bodyPr>
          <a:lstStyle/>
          <a:p>
            <a:pPr marL="0" indent="0">
              <a:buNone/>
            </a:pPr>
            <a:r>
              <a:rPr lang="it-IT" dirty="0" err="1"/>
              <a:t>Docs</a:t>
            </a:r>
            <a:r>
              <a:rPr lang="it-IT" dirty="0"/>
              <a:t>  1</a:t>
            </a:r>
          </a:p>
          <a:p>
            <a:r>
              <a:rPr lang="it-IT" dirty="0" err="1"/>
              <a:t>Introduction</a:t>
            </a:r>
            <a:r>
              <a:rPr lang="it-IT" dirty="0"/>
              <a:t>  Title, Who </a:t>
            </a:r>
            <a:r>
              <a:rPr lang="it-IT" dirty="0" err="1"/>
              <a:t>has</a:t>
            </a:r>
            <a:r>
              <a:rPr lang="it-IT" dirty="0"/>
              <a:t> </a:t>
            </a:r>
            <a:r>
              <a:rPr lang="it-IT" dirty="0" err="1"/>
              <a:t>done</a:t>
            </a:r>
            <a:r>
              <a:rPr lang="it-IT" dirty="0"/>
              <a:t> the Project, Duration, </a:t>
            </a:r>
            <a:r>
              <a:rPr lang="it-IT" dirty="0" err="1"/>
              <a:t>Contens</a:t>
            </a:r>
            <a:r>
              <a:rPr lang="it-IT" dirty="0"/>
              <a:t>  (2 pages)</a:t>
            </a:r>
          </a:p>
          <a:p>
            <a:r>
              <a:rPr lang="it-IT" u="sng" dirty="0" err="1"/>
              <a:t>Related</a:t>
            </a:r>
            <a:r>
              <a:rPr lang="it-IT" u="sng" dirty="0"/>
              <a:t> Work</a:t>
            </a:r>
            <a:r>
              <a:rPr lang="it-IT" dirty="0"/>
              <a:t>: </a:t>
            </a:r>
            <a:r>
              <a:rPr lang="it-IT" dirty="0" err="1"/>
              <a:t>Scholar</a:t>
            </a:r>
            <a:r>
              <a:rPr lang="it-IT" dirty="0"/>
              <a:t> Google  </a:t>
            </a:r>
            <a:r>
              <a:rPr lang="it-IT" dirty="0" err="1"/>
              <a:t>what</a:t>
            </a:r>
            <a:r>
              <a:rPr lang="it-IT" dirty="0"/>
              <a:t> </a:t>
            </a:r>
            <a:r>
              <a:rPr lang="it-IT" dirty="0" err="1"/>
              <a:t>other</a:t>
            </a:r>
            <a:r>
              <a:rPr lang="it-IT" dirty="0"/>
              <a:t> people </a:t>
            </a:r>
            <a:r>
              <a:rPr lang="it-IT" dirty="0" err="1"/>
              <a:t>have</a:t>
            </a:r>
            <a:r>
              <a:rPr lang="it-IT" dirty="0"/>
              <a:t> </a:t>
            </a:r>
            <a:r>
              <a:rPr lang="it-IT" dirty="0" err="1"/>
              <a:t>done</a:t>
            </a:r>
            <a:r>
              <a:rPr lang="it-IT" dirty="0"/>
              <a:t> (1 </a:t>
            </a:r>
            <a:r>
              <a:rPr lang="it-IT" dirty="0" err="1"/>
              <a:t>pg</a:t>
            </a:r>
            <a:r>
              <a:rPr lang="it-IT" dirty="0"/>
              <a:t>)</a:t>
            </a:r>
          </a:p>
          <a:p>
            <a:pPr lvl="2"/>
            <a:r>
              <a:rPr lang="it-IT" dirty="0"/>
              <a:t>Comparative </a:t>
            </a:r>
            <a:r>
              <a:rPr lang="it-IT" dirty="0" err="1"/>
              <a:t>view</a:t>
            </a:r>
            <a:r>
              <a:rPr lang="it-IT" dirty="0"/>
              <a:t> </a:t>
            </a:r>
          </a:p>
          <a:p>
            <a:r>
              <a:rPr lang="it-IT" u="sng" dirty="0"/>
              <a:t>Innovation of </a:t>
            </a:r>
            <a:r>
              <a:rPr lang="it-IT" u="sng" dirty="0" err="1"/>
              <a:t>your</a:t>
            </a:r>
            <a:r>
              <a:rPr lang="it-IT" u="sng" dirty="0"/>
              <a:t> Project (1/2 page) </a:t>
            </a:r>
          </a:p>
          <a:p>
            <a:pPr lvl="1"/>
            <a:endParaRPr lang="it-IT" u="sng" dirty="0"/>
          </a:p>
          <a:p>
            <a:r>
              <a:rPr lang="it-IT" u="sng" dirty="0"/>
              <a:t>Project development (10 pages) </a:t>
            </a:r>
          </a:p>
          <a:p>
            <a:pPr lvl="1"/>
            <a:r>
              <a:rPr lang="it-IT" u="sng" dirty="0" err="1"/>
              <a:t>Used</a:t>
            </a:r>
            <a:r>
              <a:rPr lang="it-IT" u="sng" dirty="0"/>
              <a:t> Tools (</a:t>
            </a:r>
            <a:r>
              <a:rPr lang="it-IT" u="sng" dirty="0" err="1"/>
              <a:t>sw</a:t>
            </a:r>
            <a:r>
              <a:rPr lang="it-IT" u="sng" dirty="0"/>
              <a:t>, </a:t>
            </a:r>
            <a:r>
              <a:rPr lang="it-IT" u="sng" dirty="0" err="1"/>
              <a:t>diagrams</a:t>
            </a:r>
            <a:r>
              <a:rPr lang="it-IT" u="sng" dirty="0"/>
              <a:t>, </a:t>
            </a:r>
            <a:r>
              <a:rPr lang="it-IT" u="sng" dirty="0" err="1"/>
              <a:t>platforms</a:t>
            </a:r>
            <a:r>
              <a:rPr lang="it-IT" u="sng" dirty="0"/>
              <a:t>, ..), </a:t>
            </a:r>
          </a:p>
          <a:p>
            <a:r>
              <a:rPr lang="it-IT" u="sng" dirty="0"/>
              <a:t>Specification Documents: BPMN Process, data schemas ER, Block Diagrams, State/Transitions Diagrams, UML, Use Cases, UX (10 pages) </a:t>
            </a:r>
          </a:p>
          <a:p>
            <a:r>
              <a:rPr lang="it-IT" u="sng" dirty="0"/>
              <a:t>Results: Screen Shots, Graphics, … (5 pages)       no code </a:t>
            </a:r>
          </a:p>
          <a:p>
            <a:r>
              <a:rPr lang="it-IT" u="sng" dirty="0"/>
              <a:t>Conclusions (1 page) </a:t>
            </a:r>
          </a:p>
          <a:p>
            <a:pPr marL="0" indent="0">
              <a:buNone/>
            </a:pPr>
            <a:endParaRPr lang="it-IT" dirty="0"/>
          </a:p>
          <a:p>
            <a:pPr marL="0" indent="0">
              <a:buNone/>
            </a:pPr>
            <a:r>
              <a:rPr lang="it-IT" b="1" dirty="0" err="1"/>
              <a:t>Docs</a:t>
            </a:r>
            <a:r>
              <a:rPr lang="it-IT" b="1" dirty="0"/>
              <a:t>  2</a:t>
            </a:r>
          </a:p>
          <a:p>
            <a:pPr marL="0" indent="0">
              <a:buNone/>
            </a:pPr>
            <a:r>
              <a:rPr lang="it-IT" dirty="0">
                <a:solidFill>
                  <a:srgbClr val="FF0000"/>
                </a:solidFill>
              </a:rPr>
              <a:t>Links</a:t>
            </a:r>
            <a:r>
              <a:rPr lang="it-IT" dirty="0"/>
              <a:t> to external sites where your project runs    --  User Manual for sw</a:t>
            </a:r>
          </a:p>
          <a:p>
            <a:pPr marL="0" indent="0">
              <a:buNone/>
            </a:pPr>
            <a:r>
              <a:rPr lang="it-IT" dirty="0"/>
              <a:t>Other documents you want </a:t>
            </a:r>
            <a:r>
              <a:rPr lang="it-IT" b="1" dirty="0"/>
              <a:t>to Annex </a:t>
            </a:r>
            <a:r>
              <a:rPr lang="it-IT" dirty="0"/>
              <a:t>to explain your work</a:t>
            </a:r>
          </a:p>
          <a:p>
            <a:pPr marL="0" indent="0">
              <a:buNone/>
            </a:pPr>
            <a:r>
              <a:rPr lang="it-IT" b="1" dirty="0">
                <a:solidFill>
                  <a:schemeClr val="accent6"/>
                </a:solidFill>
              </a:rPr>
              <a:t>     PROJECT_NAME.ppt    10 slides presentation </a:t>
            </a:r>
          </a:p>
          <a:p>
            <a:pPr marL="0" indent="0">
              <a:buNone/>
            </a:pPr>
            <a:endParaRPr lang="it-IT" dirty="0"/>
          </a:p>
          <a:p>
            <a:endParaRPr lang="it-IT" u="sng" dirty="0"/>
          </a:p>
          <a:p>
            <a:endParaRPr lang="it-IT" u="sng" dirty="0"/>
          </a:p>
          <a:p>
            <a:endParaRPr lang="it-IT" u="sng" dirty="0"/>
          </a:p>
        </p:txBody>
      </p:sp>
    </p:spTree>
    <p:extLst>
      <p:ext uri="{BB962C8B-B14F-4D97-AF65-F5344CB8AC3E}">
        <p14:creationId xmlns:p14="http://schemas.microsoft.com/office/powerpoint/2010/main" val="3573917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6933D59-BBA4-D985-B150-9270151F9D22}"/>
              </a:ext>
            </a:extLst>
          </p:cNvPr>
          <p:cNvSpPr>
            <a:spLocks noGrp="1"/>
          </p:cNvSpPr>
          <p:nvPr>
            <p:ph type="title"/>
          </p:nvPr>
        </p:nvSpPr>
        <p:spPr/>
        <p:txBody>
          <a:bodyPr/>
          <a:lstStyle/>
          <a:p>
            <a:r>
              <a:rPr lang="it-IT" dirty="0" err="1"/>
              <a:t>External</a:t>
            </a:r>
            <a:r>
              <a:rPr lang="it-IT" dirty="0"/>
              <a:t> projects  or </a:t>
            </a:r>
            <a:r>
              <a:rPr lang="it-IT" b="1" dirty="0"/>
              <a:t>YOUR OWN PROJECT </a:t>
            </a:r>
            <a:br>
              <a:rPr lang="it-IT" dirty="0"/>
            </a:br>
            <a:endParaRPr lang="it-IT" dirty="0"/>
          </a:p>
        </p:txBody>
      </p:sp>
      <p:sp>
        <p:nvSpPr>
          <p:cNvPr id="3" name="Segnaposto contenuto 2">
            <a:extLst>
              <a:ext uri="{FF2B5EF4-FFF2-40B4-BE49-F238E27FC236}">
                <a16:creationId xmlns:a16="http://schemas.microsoft.com/office/drawing/2014/main" id="{D999CD0A-3313-F606-451D-7389EAC57496}"/>
              </a:ext>
            </a:extLst>
          </p:cNvPr>
          <p:cNvSpPr>
            <a:spLocks noGrp="1"/>
          </p:cNvSpPr>
          <p:nvPr>
            <p:ph idx="1"/>
          </p:nvPr>
        </p:nvSpPr>
        <p:spPr/>
        <p:txBody>
          <a:bodyPr/>
          <a:lstStyle/>
          <a:p>
            <a:pPr marL="0" indent="0">
              <a:buNone/>
            </a:pPr>
            <a:r>
              <a:rPr lang="it-IT" dirty="0"/>
              <a:t>- </a:t>
            </a:r>
            <a:r>
              <a:rPr lang="it-IT" b="1" dirty="0"/>
              <a:t>Done at/with a Company</a:t>
            </a:r>
          </a:p>
          <a:p>
            <a:pPr>
              <a:buFontTx/>
              <a:buChar char="-"/>
            </a:pPr>
            <a:r>
              <a:rPr lang="it-IT" dirty="0" err="1"/>
              <a:t>Find</a:t>
            </a:r>
            <a:r>
              <a:rPr lang="it-IT" dirty="0"/>
              <a:t> an </a:t>
            </a:r>
            <a:r>
              <a:rPr lang="it-IT" dirty="0">
                <a:highlight>
                  <a:srgbClr val="FFFF00"/>
                </a:highlight>
              </a:rPr>
              <a:t>INTERNAL </a:t>
            </a:r>
            <a:r>
              <a:rPr lang="it-IT" dirty="0" err="1">
                <a:highlight>
                  <a:srgbClr val="FFFF00"/>
                </a:highlight>
              </a:rPr>
              <a:t>responsible</a:t>
            </a:r>
            <a:r>
              <a:rPr lang="it-IT" dirty="0">
                <a:highlight>
                  <a:srgbClr val="FFFF00"/>
                </a:highlight>
              </a:rPr>
              <a:t> </a:t>
            </a:r>
            <a:r>
              <a:rPr lang="it-IT" b="1" dirty="0" err="1">
                <a:highlight>
                  <a:srgbClr val="FFFF00"/>
                </a:highlight>
              </a:rPr>
              <a:t>teacher</a:t>
            </a:r>
            <a:r>
              <a:rPr lang="it-IT" dirty="0">
                <a:highlight>
                  <a:srgbClr val="FFFF00"/>
                </a:highlight>
              </a:rPr>
              <a:t> </a:t>
            </a:r>
          </a:p>
          <a:p>
            <a:pPr>
              <a:buFontTx/>
              <a:buChar char="-"/>
            </a:pPr>
            <a:endParaRPr lang="it-IT" dirty="0"/>
          </a:p>
          <a:p>
            <a:pPr>
              <a:buFontTx/>
              <a:buChar char="-"/>
            </a:pPr>
            <a:r>
              <a:rPr lang="it-IT" dirty="0"/>
              <a:t>YOP: find a responsible, propose your idea and if ok, HE/SHE has to upload the description on PII  and has to communicate the Project to me    </a:t>
            </a:r>
          </a:p>
          <a:p>
            <a:r>
              <a:rPr lang="it-IT" dirty="0"/>
              <a:t>DEIB  at POLIMI </a:t>
            </a:r>
          </a:p>
        </p:txBody>
      </p:sp>
    </p:spTree>
    <p:extLst>
      <p:ext uri="{BB962C8B-B14F-4D97-AF65-F5344CB8AC3E}">
        <p14:creationId xmlns:p14="http://schemas.microsoft.com/office/powerpoint/2010/main" val="650563269"/>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ccd8ed7d-afb7-4abd-9665-ba9c194754f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0E2EF44EAD01244FB7CAF94C77E65F72" ma:contentTypeVersion="18" ma:contentTypeDescription="Creare un nuovo documento." ma:contentTypeScope="" ma:versionID="51c37da4b88b4f20f5a73dd9e2a6bf5d">
  <xsd:schema xmlns:xsd="http://www.w3.org/2001/XMLSchema" xmlns:xs="http://www.w3.org/2001/XMLSchema" xmlns:p="http://schemas.microsoft.com/office/2006/metadata/properties" xmlns:ns3="ccd8ed7d-afb7-4abd-9665-ba9c194754f0" xmlns:ns4="e0ab1a63-e823-4e52-90aa-7ead14c9ad00" targetNamespace="http://schemas.microsoft.com/office/2006/metadata/properties" ma:root="true" ma:fieldsID="cd6c9420eab17c515b4f25f032a95476" ns3:_="" ns4:_="">
    <xsd:import namespace="ccd8ed7d-afb7-4abd-9665-ba9c194754f0"/>
    <xsd:import namespace="e0ab1a63-e823-4e52-90aa-7ead14c9ad00"/>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MediaServiceOCR" minOccurs="0"/>
                <xsd:element ref="ns4:SharedWithUsers" minOccurs="0"/>
                <xsd:element ref="ns4:SharedWithDetails" minOccurs="0"/>
                <xsd:element ref="ns4:SharingHintHash" minOccurs="0"/>
                <xsd:element ref="ns3:MediaServiceLocation"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d8ed7d-afb7-4abd-9665-ba9c194754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0ab1a63-e823-4e52-90aa-7ead14c9ad00" elementFormDefault="qualified">
    <xsd:import namespace="http://schemas.microsoft.com/office/2006/documentManagement/types"/>
    <xsd:import namespace="http://schemas.microsoft.com/office/infopath/2007/PartnerControls"/>
    <xsd:element name="SharedWithUsers" ma:index="17"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Condiviso con dettagli" ma:internalName="SharedWithDetails" ma:readOnly="true">
      <xsd:simpleType>
        <xsd:restriction base="dms:Note">
          <xsd:maxLength value="255"/>
        </xsd:restriction>
      </xsd:simpleType>
    </xsd:element>
    <xsd:element name="SharingHintHash" ma:index="19" nillable="true" ma:displayName="Hash suggerimento condivisione"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26FEAA-5B4B-4C6F-A03E-2A04602D9F30}">
  <ds:schemaRefs>
    <ds:schemaRef ds:uri="http://schemas.openxmlformats.org/package/2006/metadata/core-properties"/>
    <ds:schemaRef ds:uri="http://schemas.microsoft.com/office/2006/metadata/properties"/>
    <ds:schemaRef ds:uri="http://purl.org/dc/terms/"/>
    <ds:schemaRef ds:uri="http://purl.org/dc/elements/1.1/"/>
    <ds:schemaRef ds:uri="http://purl.org/dc/dcmitype/"/>
    <ds:schemaRef ds:uri="http://schemas.microsoft.com/office/2006/documentManagement/types"/>
    <ds:schemaRef ds:uri="e0ab1a63-e823-4e52-90aa-7ead14c9ad00"/>
    <ds:schemaRef ds:uri="ccd8ed7d-afb7-4abd-9665-ba9c194754f0"/>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6F21FA22-BF56-459B-9848-9DCB72C29C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cd8ed7d-afb7-4abd-9665-ba9c194754f0"/>
    <ds:schemaRef ds:uri="e0ab1a63-e823-4e52-90aa-7ead14c9ad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D1CD3F2-5278-4183-91DF-3FCF4EC32D1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297</TotalTime>
  <Words>1373</Words>
  <Application>Microsoft Office PowerPoint</Application>
  <PresentationFormat>Widescreen</PresentationFormat>
  <Paragraphs>108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Wingdings</vt:lpstr>
      <vt:lpstr>Tema di Office</vt:lpstr>
      <vt:lpstr>Progetto di Ingegneria Informatica (PII) GeoInformatics Project (GIP)  2025-26</vt:lpstr>
      <vt:lpstr>PII/GIP - Website</vt:lpstr>
      <vt:lpstr>PII  GEO Informatics Project   5 crediti – Scelta del Progetto  Selection of a Project</vt:lpstr>
      <vt:lpstr>PII  GEO Informatics Project   5 credits –Selection of a Project</vt:lpstr>
      <vt:lpstr>PII – Consegna  e registrazione voto del progetto</vt:lpstr>
      <vt:lpstr>PII – Delivery and registration </vt:lpstr>
      <vt:lpstr>Evaluation Criteria</vt:lpstr>
      <vt:lpstr>Progetto di Ingegneria Informatica (PII) GeoInformatics Project (GIP)</vt:lpstr>
      <vt:lpstr>PII/GIP - Website</vt:lpstr>
      <vt:lpstr>Project finalization and evaluation</vt:lpstr>
      <vt:lpstr>GIP – Project Selection Procedure</vt:lpstr>
      <vt:lpstr>Evaluation Criteria</vt:lpstr>
      <vt:lpstr>PowerPoint Presentation</vt:lpstr>
      <vt:lpstr>External projects  or YOUR OWN PROJECT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Progetto di Ingegneria Informatica</dc:title>
  <dc:creator>Gianluca Palermo</dc:creator>
  <cp:lastModifiedBy>Mariagrazia Fugini</cp:lastModifiedBy>
  <cp:revision>11</cp:revision>
  <dcterms:created xsi:type="dcterms:W3CDTF">2021-02-24T16:24:33Z</dcterms:created>
  <dcterms:modified xsi:type="dcterms:W3CDTF">2026-02-16T08:58:54Z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0x0101000E2EF44EAD01244FB7CAF94C77E65F72</vt:lpwstr>
  </property>
</Properties>
</file>